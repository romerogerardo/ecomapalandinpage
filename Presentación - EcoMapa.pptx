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548640"/>
            <a:ext cx="566928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6B6D4"/>
                </a:solidFill>
                <a:latin typeface="Arial"/>
              </a:defRPr>
            </a:pPr>
            <a:r>
              <a:t>CIVICLOOP TECHNOLOGIES S.A.  •  PROYECTO INTEGRADOR (PIN 2026)</a:t>
            </a:r>
          </a:p>
        </p:txBody>
      </p:sp>
      <p:pic>
        <p:nvPicPr>
          <p:cNvPr id="4" name="Picture 3" descr="civicloop_logo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645920" cy="1645920"/>
          </a:xfrm>
          <a:prstGeom prst="rect">
            <a:avLst/>
          </a:prstGeom>
        </p:spPr>
      </p:pic>
      <p:pic>
        <p:nvPicPr>
          <p:cNvPr id="5" name="Picture 4" descr="ic_splash_logo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1234440"/>
            <a:ext cx="1645920" cy="1645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301752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FFFFF"/>
                </a:solidFill>
                <a:latin typeface="Arial"/>
              </a:defRPr>
            </a:pPr>
            <a:r>
              <a:t>EcoMapa V2.1</a:t>
            </a:r>
          </a:p>
          <a:p>
            <a:pPr>
              <a:spcBef>
                <a:spcPts val="800"/>
              </a:spcBef>
              <a:defRPr sz="1800" b="1">
                <a:solidFill>
                  <a:srgbClr val="34D399"/>
                </a:solidFill>
                <a:latin typeface="Arial"/>
              </a:defRPr>
            </a:pPr>
            <a:r>
              <a:t>Plataforma Inteligente de Economía Circular con IA Multimodal y Geolocalización Urbana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  <a:latin typeface="Arial"/>
              </a:defRPr>
            </a:pPr>
            <a:r>
              <a:t>Defensa Académica Final — Tecnicatura Superior en Desarrollo de Software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846320"/>
            <a:ext cx="3383280" cy="14630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defRPr sz="950" b="1">
                <a:solidFill>
                  <a:srgbClr val="10B981"/>
                </a:solidFill>
                <a:latin typeface="Arial"/>
              </a:defRPr>
            </a:pPr>
            <a:r>
              <a:t>EQUIPO DE DESARROLLO</a:t>
            </a:r>
          </a:p>
          <a:p>
            <a:pPr>
              <a:spcBef>
                <a:spcPts val="300"/>
              </a:spcBef>
              <a:defRPr sz="1100" b="1">
                <a:solidFill>
                  <a:srgbClr val="FFFFFF"/>
                </a:solidFill>
                <a:latin typeface="Arial"/>
              </a:defRPr>
            </a:pPr>
            <a:r>
              <a:t>Naomi Ailín Soria Jofré</a:t>
            </a:r>
            <a:br/>
            <a:r>
              <a:t>Gerardo Jesús Romero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CivicLoop Technologies S.A.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4846320"/>
            <a:ext cx="3383280" cy="14630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defRPr sz="950" b="1">
                <a:solidFill>
                  <a:srgbClr val="06B6D4"/>
                </a:solidFill>
                <a:latin typeface="Arial"/>
              </a:defRPr>
            </a:pPr>
            <a:r>
              <a:t>EVALUACIÓN ACADÉMICA</a:t>
            </a:r>
          </a:p>
          <a:p>
            <a:pPr>
              <a:spcBef>
                <a:spcPts val="300"/>
              </a:spcBef>
              <a:defRPr sz="1100" b="1">
                <a:solidFill>
                  <a:srgbClr val="FFFFFF"/>
                </a:solidFill>
                <a:latin typeface="Arial"/>
              </a:defRPr>
            </a:pPr>
            <a:r>
              <a:t>Mgter. Lic. Enzo Varela</a:t>
            </a:r>
            <a:br/>
            <a:r>
              <a:t>Analista de Sistemas (MP: 3215)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Instituto Superior Villa del Rosario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4846320"/>
            <a:ext cx="3383280" cy="14630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defRPr sz="950" b="1">
                <a:solidFill>
                  <a:srgbClr val="8B5CF6"/>
                </a:solidFill>
                <a:latin typeface="Arial"/>
              </a:defRPr>
            </a:pPr>
            <a:r>
              <a:t>STACK TECNOLÓGICO</a:t>
            </a:r>
          </a:p>
          <a:p>
            <a:pPr>
              <a:spcBef>
                <a:spcPts val="300"/>
              </a:spcBef>
              <a:defRPr sz="1100" b="1">
                <a:solidFill>
                  <a:srgbClr val="FFFFFF"/>
                </a:solidFill>
                <a:latin typeface="Arial"/>
              </a:defRPr>
            </a:pPr>
            <a:r>
              <a:t>Google Gemini AI • Jetpack Compose</a:t>
            </a:r>
            <a:br/>
            <a:r>
              <a:t>Supabase • PostGIS • React 19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Octubre de 2026 — Córdoba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3474720" cy="347472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01. DIAGNÓSTICO DEL PROBLEMA</a:t>
            </a:r>
          </a:p>
        </p:txBody>
      </p:sp>
      <p:pic>
        <p:nvPicPr>
          <p:cNvPr id="4" name="Picture 3" descr="civicloop_logo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365760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La Brecha Crítica en la Separación en Origen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  <a:latin typeface="Arial"/>
              </a:defRPr>
            </a:pPr>
            <a:r>
              <a:t>Por qué los programas tradicionales de reciclaje fracasan en las ciudades del interior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3108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3600" b="1">
                <a:solidFill>
                  <a:srgbClr val="F43F5E"/>
                </a:solidFill>
                <a:latin typeface="Arial"/>
              </a:defRPr>
            </a:pPr>
            <a:r>
              <a:t>54%</a:t>
            </a:r>
          </a:p>
          <a:p>
            <a:pPr>
              <a:spcBef>
                <a:spcPts val="400"/>
              </a:spcBef>
              <a:defRPr sz="1300" b="1">
                <a:solidFill>
                  <a:srgbClr val="FFFFFF"/>
                </a:solidFill>
                <a:latin typeface="Arial"/>
              </a:defRPr>
            </a:pPr>
            <a:r>
              <a:t>Desconocimiento y Wishcycling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Más del 54% de los vecinos declara tener dudas sobre cómo clasificar residuos específicos (plásticos mezclados, tetrabriks, aerosoles). Esto produce 'Wishcycling': arrojar residuos incorrectos que contaminan lotes enteros de reciclables.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828800"/>
            <a:ext cx="3383280" cy="3108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3600" b="1">
                <a:solidFill>
                  <a:srgbClr val="F59E0B"/>
                </a:solidFill>
                <a:latin typeface="Arial"/>
              </a:defRPr>
            </a:pPr>
            <a:r>
              <a:t>&lt; 4%</a:t>
            </a:r>
          </a:p>
          <a:p>
            <a:pPr>
              <a:spcBef>
                <a:spcPts val="400"/>
              </a:spcBef>
              <a:defRPr sz="1300" b="1">
                <a:solidFill>
                  <a:srgbClr val="FFFFFF"/>
                </a:solidFill>
                <a:latin typeface="Arial"/>
              </a:defRPr>
            </a:pPr>
            <a:r>
              <a:t>Tasa Real en la Región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En los municipios del departamento Río Segundo y el interior de Córdoba, la tasa efectiva de reciclaje no supera el 3.8% (frente al 9% promedio global). Más de 1.800 toneladas mensuales terminan en vertederos a cielo abierto.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828800"/>
            <a:ext cx="3383280" cy="3108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3600" b="1">
                <a:solidFill>
                  <a:srgbClr val="06B6D4"/>
                </a:solidFill>
                <a:latin typeface="Arial"/>
              </a:defRPr>
            </a:pPr>
            <a:r>
              <a:t>80%</a:t>
            </a:r>
          </a:p>
          <a:p>
            <a:pPr>
              <a:spcBef>
                <a:spcPts val="400"/>
              </a:spcBef>
              <a:defRPr sz="1300" b="1">
                <a:solidFill>
                  <a:srgbClr val="FFFFFF"/>
                </a:solidFill>
                <a:latin typeface="Arial"/>
              </a:defRPr>
            </a:pPr>
            <a:r>
              <a:t>Fuga de Residuos Voluminosos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Colchones, muebles, escombros, chatarra y residuos electrónicos (RAEE) son descartados clandestinamente en baldíos y cunetas debido a la falta de un canal ágil y predecible de recolección municipal puerta a puerta.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66360"/>
            <a:ext cx="10698480" cy="11887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100" b="1">
                <a:solidFill>
                  <a:srgbClr val="F43F5E"/>
                </a:solidFill>
                <a:latin typeface="Arial"/>
              </a:defRPr>
            </a:pPr>
            <a:r>
              <a:t>💡 CONCLUSIÓN DEL DIAGNÓSTICO:</a:t>
            </a:r>
          </a:p>
          <a:p>
            <a:pPr>
              <a:spcBef>
                <a:spcPts val="400"/>
              </a:spcBef>
              <a:defRPr sz="1150">
                <a:solidFill>
                  <a:srgbClr val="E2E8F0"/>
                </a:solidFill>
                <a:latin typeface="Arial"/>
              </a:defRPr>
            </a:pPr>
            <a:r>
              <a:t>La separación en origen no falla por falta de conciencia ecológica, sino por la fricción cognitiva en el instante del descarte y la ausencia de información espacial inmediata. EcoMapa elimina esa brecha transformando la duda en acción precisa en menos de 30 segundos.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3474720" cy="34747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02. PROPUESTA DE VALOR</a:t>
            </a:r>
          </a:p>
        </p:txBody>
      </p:sp>
      <p:pic>
        <p:nvPicPr>
          <p:cNvPr id="4" name="Picture 3" descr="civicloop_logo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365760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Ecosistema Integral de Triple Impacto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  <a:latin typeface="Arial"/>
              </a:defRPr>
            </a:pPr>
            <a:r>
              <a:t>Conectando al ciudadano, al municipio y a la industria en un único flujo de economía circular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300" b="1">
                <a:solidFill>
                  <a:srgbClr val="10B981"/>
                </a:solidFill>
                <a:latin typeface="Arial"/>
              </a:defRPr>
            </a:pPr>
            <a:r>
              <a:t>APP MÓVIL CIUDADANA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Android Jetpack Compose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Escaneo de residuos por cámara con IA Gemini.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Mapa interactivo con pines de alta visibilidad.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Navegación turn-by-turn en Google Maps.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Solicitud de retiros a domicilio de voluminosos.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Sistema de Ecopuntos y recompensas tangibles.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828800"/>
            <a:ext cx="338328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300" b="1">
                <a:solidFill>
                  <a:srgbClr val="06B6D4"/>
                </a:solidFill>
                <a:latin typeface="Arial"/>
              </a:defRPr>
            </a:pPr>
            <a:r>
              <a:t>PORTAL MUNICIPAL B2G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Gestión Integral y Cuadrillas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Administración y monitoreo de contenedores urbanos.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Tablero de asignación de retiros para cuadrillas.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Ruteo logístico optimizado para camiones.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Métricas GIRSU de volumen recolectado.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Comunicación directa y notificaciones a vecinos.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828800"/>
            <a:ext cx="338328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300" b="1">
                <a:solidFill>
                  <a:srgbClr val="8B5CF6"/>
                </a:solidFill>
                <a:latin typeface="Arial"/>
              </a:defRPr>
            </a:pPr>
            <a:r>
              <a:t>PORTAL B2B &amp; MÓDULO REP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Industria y Comercios Locales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Directorio oficial de marcas bajo Ley REP.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Mapeo de centros de reciclaje privados ($/kg).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Canje de cupones de descuento patrocinados.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Reportes de sustentabilidad corporativa ESG.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Cumplimiento auditable de normativas ambientales.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3474720" cy="347472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03. INTELIGENCIA ARTIFICIAL</a:t>
            </a:r>
          </a:p>
        </p:txBody>
      </p:sp>
      <p:pic>
        <p:nvPicPr>
          <p:cNvPr id="4" name="Picture 3" descr="civicloop_logo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365760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Google Gemini 1.5: Visión Artificial y Chat Multimodal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  <a:latin typeface="Arial"/>
              </a:defRPr>
            </a:pPr>
            <a:r>
              <a:t>Procesamiento de imagen y lenguaje natural desplegado sobre Supabase Edge Functions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400" b="1">
                <a:solidFill>
                  <a:srgbClr val="06B6D4"/>
                </a:solidFill>
                <a:latin typeface="Arial"/>
              </a:defRPr>
            </a:pPr>
            <a:r>
              <a:t>📷 ESCÁNER POR CÁMARA (ScanScreen.kt)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Captura y Optimización: CameraX comprime la fotografía a JPEG (calidad 80) y la codifica en Base64 para una transmisión liviana.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Inferencia Gemini Vision: El modelo analiza material, transparencia, rigidez y contaminantes en menos de ~520 ms.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Determinación del Contenedor: Mapea automáticamente al color oficial (Amarillo, Azul, Verde, Rojo o RAEE Electrónico).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Vinculación Geoespacial: Consulta RPC 'get_nearby_points' y retorna el contenedor más próximo con foto real.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Botón 'Cómo llegar': Acceso directo a navegación GPS paso a paso en Google Maps con un solo toque.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400" b="1">
                <a:solidFill>
                  <a:srgbClr val="10B981"/>
                </a:solidFill>
                <a:latin typeface="Arial"/>
              </a:defRPr>
            </a:pPr>
            <a:r>
              <a:t>💬 ASISTENTE CONVERSACIONAL (ChatScreen.kt)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Lenguaje Natural Sin Comandos: El ciudadano consulta de manera libre (ej: '¿dónde tiro un televisor viejo quemado?').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Instrucciones de Acondicionamiento: Gemini enseña a vaciar, escurrir, aplastar y retirar tapas antes de depositar.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Detección de Residuos Voluminosos: Si detecta escombros, muebles o electrodomésticos grandes, activa el intent de 'SOLICITAR RETIRO MUNICIPAL' automáticamente.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Integración Serverless en Deno: Edge Function segura con clave de API de Gemini protegida en Supabase Vault.</a:t>
            </a:r>
          </a:p>
        </p:txBody>
      </p:sp>
      <p:pic>
        <p:nvPicPr>
          <p:cNvPr id="8" name="Picture 7" descr="app_scan_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3383280"/>
            <a:ext cx="1554480" cy="34604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3474720" cy="34747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04. LOGÍSTICA URBANA Y GPS</a:t>
            </a:r>
          </a:p>
        </p:txBody>
      </p:sp>
      <p:pic>
        <p:nvPicPr>
          <p:cNvPr id="4" name="Picture 3" descr="civicloop_logo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365760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De la Detección a la Disposición en Tiempo Real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  <a:latin typeface="Arial"/>
              </a:defRPr>
            </a:pPr>
            <a:r>
              <a:t>Búsqueda geoespacial precisa con PostGIS y navegación turn-by-turn en Google Maps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150" b="1">
                <a:solidFill>
                  <a:srgbClr val="10B981"/>
                </a:solidFill>
                <a:latin typeface="Arial"/>
              </a:defRPr>
            </a:pPr>
            <a:r>
              <a:t>MOTOR ESPACIAL POSTGIS</a:t>
            </a:r>
          </a:p>
          <a:p>
            <a:pPr>
              <a:spcBef>
                <a:spcPts val="500"/>
              </a:spcBef>
              <a:defRPr sz="1050">
                <a:solidFill>
                  <a:srgbClr val="E2E8F0"/>
                </a:solidFill>
                <a:latin typeface="Arial"/>
              </a:defRPr>
            </a:pPr>
            <a:r>
              <a:t>Indexación GiST y función SQL 'get_nearby_points' con tipo GEOGRAPHY(Point, 4326). Calcula distancias euclidianas exactas en menos de 95 ms y filtra por tipo de residuo.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828800"/>
            <a:ext cx="338328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150" b="1">
                <a:solidFill>
                  <a:srgbClr val="F59E0B"/>
                </a:solidFill>
                <a:latin typeface="Arial"/>
              </a:defRPr>
            </a:pPr>
            <a:r>
              <a:t>PINES CON ETIQUETAS DINÁMICAS</a:t>
            </a:r>
          </a:p>
          <a:p>
            <a:pPr>
              <a:spcBef>
                <a:spcPts val="500"/>
              </a:spcBef>
              <a:defRPr sz="1050">
                <a:solidFill>
                  <a:srgbClr val="E2E8F0"/>
                </a:solidFill>
                <a:latin typeface="Arial"/>
              </a:defRPr>
            </a:pPr>
            <a:r>
              <a:t>EcoMapView.kt renderiza badges tipográficos legibles sobre el mapa (PLÁSTICOS, VIDRIO, ELECTRÓNICOS, CARTÓN). El vecino identifica de un vistazo la función del contenedor.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828800"/>
            <a:ext cx="338328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150" b="1">
                <a:solidFill>
                  <a:srgbClr val="06B6D4"/>
                </a:solidFill>
                <a:latin typeface="Arial"/>
              </a:defRPr>
            </a:pPr>
            <a:r>
              <a:t>NAVEGACIÓN TURN-BY-TURN</a:t>
            </a:r>
          </a:p>
          <a:p>
            <a:pPr>
              <a:spcBef>
                <a:spcPts val="500"/>
              </a:spcBef>
              <a:defRPr sz="1050">
                <a:solidFill>
                  <a:srgbClr val="E2E8F0"/>
                </a:solidFill>
                <a:latin typeface="Arial"/>
              </a:defRPr>
            </a:pPr>
            <a:r>
              <a:t>Botón '🧭 Cómo llegar' que ejecuta un Android Intent nativo contra Google Maps (google.navigation:q=lat,lng). Guía por voz y giro a giro hasta la puerta del contenedor.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60520"/>
            <a:ext cx="1069848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📍 RED DE PUNTOS REALES ACTIVOS EN MATORRALES Y VILLA DEL ROSARIO, CÓRDOBA:</a:t>
            </a:r>
          </a:p>
        </p:txBody>
      </p:sp>
      <p:pic>
        <p:nvPicPr>
          <p:cNvPr id="10" name="Picture 9" descr="contenedor_amarill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526280"/>
            <a:ext cx="2331720" cy="1280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5852160"/>
            <a:ext cx="233172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ctr">
              <a:defRPr sz="950" b="1">
                <a:solidFill>
                  <a:srgbClr val="E2E8F0"/>
                </a:solidFill>
                <a:latin typeface="Arial"/>
              </a:defRPr>
            </a:pPr>
            <a:r>
              <a:t>Contenedor Amarillo</a:t>
            </a:r>
            <a:br/>
            <a:r>
              <a:t>Plásticos y PET</a:t>
            </a:r>
          </a:p>
        </p:txBody>
      </p:sp>
      <p:pic>
        <p:nvPicPr>
          <p:cNvPr id="12" name="Picture 11" descr="contenedor_azu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440" y="4526280"/>
            <a:ext cx="2331720" cy="12801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20440" y="5852160"/>
            <a:ext cx="233172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ctr">
              <a:defRPr sz="950" b="1">
                <a:solidFill>
                  <a:srgbClr val="E2E8F0"/>
                </a:solidFill>
                <a:latin typeface="Arial"/>
              </a:defRPr>
            </a:pPr>
            <a:r>
              <a:t>Contenedor Azul</a:t>
            </a:r>
            <a:br/>
            <a:r>
              <a:t>Papel y Cartón</a:t>
            </a:r>
          </a:p>
        </p:txBody>
      </p:sp>
      <p:pic>
        <p:nvPicPr>
          <p:cNvPr id="14" name="Picture 13" descr="contenedor_verd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4526280"/>
            <a:ext cx="2331720" cy="12801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172200" y="5852160"/>
            <a:ext cx="233172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ctr">
              <a:defRPr sz="950" b="1">
                <a:solidFill>
                  <a:srgbClr val="E2E8F0"/>
                </a:solidFill>
                <a:latin typeface="Arial"/>
              </a:defRPr>
            </a:pPr>
            <a:r>
              <a:t>Contenedor Verde</a:t>
            </a:r>
            <a:br/>
            <a:r>
              <a:t>Botellas de Vidrio</a:t>
            </a:r>
          </a:p>
        </p:txBody>
      </p:sp>
      <p:pic>
        <p:nvPicPr>
          <p:cNvPr id="16" name="Picture 15" descr="contenedor_rojo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3960" y="4526280"/>
            <a:ext cx="2331720" cy="12801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823960" y="5852160"/>
            <a:ext cx="233172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ctr">
              <a:defRPr sz="950" b="1">
                <a:solidFill>
                  <a:srgbClr val="E2E8F0"/>
                </a:solidFill>
                <a:latin typeface="Arial"/>
              </a:defRPr>
            </a:pPr>
            <a:r>
              <a:t>Contenedor Rojo</a:t>
            </a:r>
            <a:br/>
            <a:r>
              <a:t>Pilas y Peligrosos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3474720" cy="34747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05. EXPERIENCIA DE USUARIO (UX)</a:t>
            </a:r>
          </a:p>
        </p:txBody>
      </p:sp>
      <p:pic>
        <p:nvPicPr>
          <p:cNvPr id="4" name="Picture 3" descr="civicloop_logo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365760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El Viaje del Ciudadano en 5 Pasos Simples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  <a:latin typeface="Arial"/>
              </a:defRPr>
            </a:pPr>
            <a:r>
              <a:t>Cero fricción: desde el escaneo fotográfico hasta la recompensa en menos de 60 segundos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2011680" cy="32004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82880"/>
          <a:lstStyle/>
          <a:p>
            <a:pPr algn="ctr">
              <a:defRPr sz="3200" b="1">
                <a:solidFill>
                  <a:srgbClr val="10B981"/>
                </a:solidFill>
                <a:latin typeface="Arial"/>
              </a:defRPr>
            </a:pPr>
            <a:r>
              <a:t>01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  <a:latin typeface="Arial"/>
              </a:defRPr>
            </a:pPr>
            <a:r>
              <a:t>CAPTURA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Apunta la cámara al residuo desde ScanScreen.kt.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80" y="1920240"/>
            <a:ext cx="2011680" cy="32004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82880"/>
          <a:lstStyle/>
          <a:p>
            <a:pPr algn="ctr">
              <a:defRPr sz="3200" b="1">
                <a:solidFill>
                  <a:srgbClr val="06B6D4"/>
                </a:solidFill>
                <a:latin typeface="Arial"/>
              </a:defRPr>
            </a:pPr>
            <a:r>
              <a:t>02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  <a:latin typeface="Arial"/>
              </a:defRPr>
            </a:pPr>
            <a:r>
              <a:t>IA GEMINI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Infiere el material y determina el contenedor correcto.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0" y="1920240"/>
            <a:ext cx="2011680" cy="32004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82880"/>
          <a:lstStyle/>
          <a:p>
            <a:pPr algn="ctr">
              <a:defRPr sz="3200" b="1">
                <a:solidFill>
                  <a:srgbClr val="F59E0B"/>
                </a:solidFill>
                <a:latin typeface="Arial"/>
              </a:defRPr>
            </a:pPr>
            <a:r>
              <a:t>03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  <a:latin typeface="Arial"/>
              </a:defRPr>
            </a:pPr>
            <a:r>
              <a:t>UBICACIÓN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Localiza el punto verde más cercano con foto real.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199" y="1920240"/>
            <a:ext cx="2011680" cy="32004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82880"/>
          <a:lstStyle/>
          <a:p>
            <a:pPr algn="ctr">
              <a:defRPr sz="3200" b="1">
                <a:solidFill>
                  <a:srgbClr val="3B82F6"/>
                </a:solidFill>
                <a:latin typeface="Arial"/>
              </a:defRPr>
            </a:pPr>
            <a:r>
              <a:t>04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  <a:latin typeface="Arial"/>
              </a:defRPr>
            </a:pPr>
            <a:r>
              <a:t>NAVEGACIÓN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Un toque abre el GPS guiado en Google Maps.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09760" y="1920240"/>
            <a:ext cx="2011680" cy="32004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82880"/>
          <a:lstStyle/>
          <a:p>
            <a:pPr algn="ctr">
              <a:defRPr sz="3200" b="1">
                <a:solidFill>
                  <a:srgbClr val="8B5CF6"/>
                </a:solidFill>
                <a:latin typeface="Arial"/>
              </a:defRPr>
            </a:pPr>
            <a:r>
              <a:t>05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  <a:latin typeface="Arial"/>
              </a:defRPr>
            </a:pPr>
            <a:r>
              <a:t>ECOPUNTOS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Registra el descarte y acredita puntos canjeables.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349240"/>
            <a:ext cx="10698480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100" b="1">
                <a:solidFill>
                  <a:srgbClr val="10B981"/>
                </a:solidFill>
                <a:latin typeface="Arial"/>
              </a:defRPr>
            </a:pPr>
            <a:r>
              <a:t>🚀 RENDIMIENTO Y ACCESIBILIDAD:</a:t>
            </a:r>
          </a:p>
          <a:p>
            <a:pPr>
              <a:spcBef>
                <a:spcPts val="3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Desarrollada nativamente en Jetpack Compose con arquitectura MVVM y Clean Architecture. Consumo mínimo de batería, soporte offline para catálogo de materiales y peso de descarga menor a 22 MB.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3474720" cy="347472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06. SERVICIOS ESPECIALES</a:t>
            </a:r>
          </a:p>
        </p:txBody>
      </p:sp>
      <p:pic>
        <p:nvPicPr>
          <p:cNvPr id="4" name="Picture 3" descr="civicloop_logo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365760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Resolviendo Residuos Voluminosos y Normativa REP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  <a:latin typeface="Arial"/>
              </a:defRPr>
            </a:pPr>
            <a:r>
              <a:t>Logística municipal de retiro puerta a puerta y vinculación con productores responsables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400" b="1">
                <a:solidFill>
                  <a:srgbClr val="F59E0B"/>
                </a:solidFill>
                <a:latin typeface="Arial"/>
              </a:defRPr>
            </a:pPr>
            <a:r>
              <a:t>🚛 RETIROS A DOMICILIO (PickupScreen.kt)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Residuos Complejos: Muebles en desuso, heladeras, restos de poda, escombros y chatarra pesada.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Selección de Turnos: El vecino elige franja horaria: Mañana (08:00 a 12:00) o Tarde (14:00 a 18:00).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Geolocalización Automática: Fija las coordenadas exactas de la vereda del domicilio para optimizar el recorrido.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Tablero para Cuadrillas: El municipio o cooperativa asigna camiones en /dashboard/pickups y actualiza el estado en tiempo real (Pendiente → En Camino → Completado).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400" b="1">
                <a:solidFill>
                  <a:srgbClr val="8B5CF6"/>
                </a:solidFill>
                <a:latin typeface="Arial"/>
              </a:defRPr>
            </a:pPr>
            <a:r>
              <a:t>♻️ RESPONSABILIDAD EXTENDIDA (MÓDULO REP)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Vinculación con Fabricantes: Conecta al consumidor con marcas y programas de recupero regulados por ley.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Residuos Críticos: Canales seguros para pilas, baterías de litio, neumáticos fuera de uso, agroquímicos y RAEE.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Puntos Verdes Certificados: Georreferenciación de puntos especiales con operadores habilitados ambientalmente.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Trazabilidad y Certificación: Generación de certificados de disposición final sustentable para industrias y comercios.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3474720" cy="34747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07. ECONOMÍA CIRCULAR Y BENEFICIOS</a:t>
            </a:r>
          </a:p>
        </p:txBody>
      </p:sp>
      <p:pic>
        <p:nvPicPr>
          <p:cNvPr id="4" name="Picture 3" descr="civicloop_logo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365760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Ecopuntos: Fidelización y Gamificación B2B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  <a:latin typeface="Arial"/>
              </a:defRPr>
            </a:pPr>
            <a:r>
              <a:t>Incentivos tangibles que impulsan el comercio de proximidad y premian la conducta verde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30175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250" b="1">
                <a:solidFill>
                  <a:srgbClr val="10B981"/>
                </a:solidFill>
                <a:latin typeface="Arial"/>
              </a:defRPr>
            </a:pPr>
            <a:r>
              <a:t>BILLETERA DE ECOPUNTOS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Acreditación automática por cada acción de descarte verificada. Contador de racha de reciclaje semanal y medallas por hitos (Ej: 'Guardián del Plástico', 'Héroe del Vidrio').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828800"/>
            <a:ext cx="3383280" cy="30175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250" b="1">
                <a:solidFill>
                  <a:srgbClr val="06B6D4"/>
                </a:solidFill>
                <a:latin typeface="Arial"/>
              </a:defRPr>
            </a:pPr>
            <a:r>
              <a:t>CUPONES DE COMERCIOS LOCALES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Catálogo interactivo en RewardsScreen.kt. Canje de códigos QR por descuentos en supermercados, cafeterías, ferreterías y farmacias de Villa del Rosario y Matorrales.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828800"/>
            <a:ext cx="3383280" cy="30175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250" b="1">
                <a:solidFill>
                  <a:srgbClr val="8B5CF6"/>
                </a:solidFill>
                <a:latin typeface="Arial"/>
              </a:defRPr>
            </a:pPr>
            <a:r>
              <a:t>MÉTRICAS DE IMPACTO PERSONAL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El ciudadano visualiza el resultado concreto de su esfuerzo: kg de residuos desviados de vertederos, kg de CO2 evitados y litros de agua potable conservados.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074920"/>
            <a:ext cx="1069848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/>
          <a:lstStyle/>
          <a:p>
            <a:pPr algn="ctr">
              <a:defRPr sz="1100" b="1">
                <a:solidFill>
                  <a:srgbClr val="10B981"/>
                </a:solidFill>
                <a:latin typeface="Arial"/>
              </a:defRPr>
            </a:pPr>
            <a:r>
              <a:t>🤝 VALOR PARA LOS COMERCIOS Y EMPRESAS PARTICIPANTES: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Los comercios publican promociones directamente en el panel web (/dashboard/rewards), atrayendo clientes comprometidos, posicionando su marca como socialmente responsable y dinamizando las ventas locales a costo cero de intermediación.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3474720" cy="34747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08. INGENIERÍA DE SOFTWARE</a:t>
            </a:r>
          </a:p>
        </p:txBody>
      </p:sp>
      <p:pic>
        <p:nvPicPr>
          <p:cNvPr id="4" name="Picture 3" descr="civicloop_logo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365760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Arquitectura Cloud Serverless, Reactiva y Escalable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  <a:latin typeface="Arial"/>
              </a:defRPr>
            </a:pPr>
            <a:r>
              <a:t>Diseño desacoplado basado en Microservicios, Edge Computing y Event-Driven Architecture</a:t>
            </a:r>
          </a:p>
        </p:txBody>
      </p:sp>
      <p:pic>
        <p:nvPicPr>
          <p:cNvPr id="6" name="Picture 5" descr="04_arquitectu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828800"/>
            <a:ext cx="6217920" cy="44805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0" y="1828800"/>
            <a:ext cx="4297680" cy="1051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>
              <a:defRPr sz="1100" b="1">
                <a:solidFill>
                  <a:srgbClr val="10B981"/>
                </a:solidFill>
                <a:latin typeface="Arial"/>
              </a:defRPr>
            </a:pPr>
            <a:r>
              <a:t>MOBILE CLIENT (ANDROID)</a:t>
            </a:r>
          </a:p>
          <a:p>
            <a:pPr>
              <a:spcBef>
                <a:spcPts val="300"/>
              </a:spcBef>
              <a:defRPr sz="1000">
                <a:solidFill>
                  <a:srgbClr val="E2E8F0"/>
                </a:solidFill>
                <a:latin typeface="Arial"/>
              </a:defRPr>
            </a:pPr>
            <a:r>
              <a:t>Kotlin 1.9+ • Jetpack Compose • Material 3 • CameraX • Retrofit 2 • Room Local Database.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2971800"/>
            <a:ext cx="4297680" cy="1051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>
              <a:defRPr sz="1100" b="1">
                <a:solidFill>
                  <a:srgbClr val="06B6D4"/>
                </a:solidFill>
                <a:latin typeface="Arial"/>
              </a:defRPr>
            </a:pPr>
            <a:r>
              <a:t>CLOUD SERVERLESS &amp; DB</a:t>
            </a:r>
          </a:p>
          <a:p>
            <a:pPr>
              <a:spcBef>
                <a:spcPts val="300"/>
              </a:spcBef>
              <a:defRPr sz="1000">
                <a:solidFill>
                  <a:srgbClr val="E2E8F0"/>
                </a:solidFill>
                <a:latin typeface="Arial"/>
              </a:defRPr>
            </a:pPr>
            <a:r>
              <a:t>Supabase Platform • PostgreSQL 15 • PostGIS 3.3 • Row Level Security (RLS) • Storage Buckets.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4114800"/>
            <a:ext cx="4297680" cy="1051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>
              <a:defRPr sz="1100" b="1">
                <a:solidFill>
                  <a:srgbClr val="F59E0B"/>
                </a:solidFill>
                <a:latin typeface="Arial"/>
              </a:defRPr>
            </a:pPr>
            <a:r>
              <a:t>EDGE AI INFERENCE</a:t>
            </a:r>
          </a:p>
          <a:p>
            <a:pPr>
              <a:spcBef>
                <a:spcPts val="300"/>
              </a:spcBef>
              <a:defRPr sz="1000">
                <a:solidFill>
                  <a:srgbClr val="E2E8F0"/>
                </a:solidFill>
                <a:latin typeface="Arial"/>
              </a:defRPr>
            </a:pPr>
            <a:r>
              <a:t>Supabase Edge Functions (Deno / TS) • Google Gemini 1.5 Flash Vision API • Prompt Engineering seguro.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5257800"/>
            <a:ext cx="4297680" cy="1051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>
              <a:defRPr sz="1100" b="1">
                <a:solidFill>
                  <a:srgbClr val="8B5CF6"/>
                </a:solidFill>
                <a:latin typeface="Arial"/>
              </a:defRPr>
            </a:pPr>
            <a:r>
              <a:t>WEB PLATFORMS (B2G / B2B)</a:t>
            </a:r>
          </a:p>
          <a:p>
            <a:pPr>
              <a:spcBef>
                <a:spcPts val="300"/>
              </a:spcBef>
              <a:defRPr sz="1000">
                <a:solidFill>
                  <a:srgbClr val="E2E8F0"/>
                </a:solidFill>
                <a:latin typeface="Arial"/>
              </a:defRPr>
            </a:pPr>
            <a:r>
              <a:t>React 19 • TypeScript • Vite • Tailwind CSS • Leaflet Maps • Lucide Icons • Vercel Hosting.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3474720" cy="34747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09. VIABILIDAD COMERCIAL</a:t>
            </a:r>
          </a:p>
        </p:txBody>
      </p:sp>
      <p:pic>
        <p:nvPicPr>
          <p:cNvPr id="4" name="Picture 3" descr="civicloop_logo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365760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Modelo Híbrido SaaS B2G y B2B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  <a:latin typeface="Arial"/>
              </a:defRPr>
            </a:pPr>
            <a:r>
              <a:t>Flujos de ingresos recurrentes y estructura de costos operativos ultra-liviana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200" b="1">
                <a:solidFill>
                  <a:srgbClr val="06B6D4"/>
                </a:solidFill>
                <a:latin typeface="Arial"/>
              </a:defRPr>
            </a:pPr>
            <a:r>
              <a:t>B2G: MUNICIPIOS (GIRSU SaaS)</a:t>
            </a:r>
          </a:p>
          <a:p>
            <a:pPr>
              <a:spcBef>
                <a:spcPts val="3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Suscripción Anual por Tramo Poblacional</a:t>
            </a:r>
          </a:p>
          <a:p>
            <a:pPr>
              <a:spcBef>
                <a:spcPts val="700"/>
              </a:spcBef>
              <a:defRPr sz="1050">
                <a:solidFill>
                  <a:srgbClr val="E2E8F0"/>
                </a:solidFill>
                <a:latin typeface="Arial"/>
              </a:defRPr>
            </a:pPr>
            <a:r>
              <a:t>• Tier Comunal (&lt; 10.000 hab.): $450 USD/mes.</a:t>
            </a:r>
          </a:p>
          <a:p>
            <a:pPr>
              <a:spcBef>
                <a:spcPts val="700"/>
              </a:spcBef>
              <a:defRPr sz="1050">
                <a:solidFill>
                  <a:srgbClr val="E2E8F0"/>
                </a:solidFill>
                <a:latin typeface="Arial"/>
              </a:defRPr>
            </a:pPr>
            <a:r>
              <a:t>• Tier Urbano (10k a 50k hab.): $850 USD/mes.</a:t>
            </a:r>
          </a:p>
          <a:p>
            <a:pPr>
              <a:spcBef>
                <a:spcPts val="700"/>
              </a:spcBef>
              <a:defRPr sz="1050">
                <a:solidFill>
                  <a:srgbClr val="E2E8F0"/>
                </a:solidFill>
                <a:latin typeface="Arial"/>
              </a:defRPr>
            </a:pPr>
            <a:r>
              <a:t>• Tier Metrópoli (&gt; 50.000 hab.): $1.500 USD/mes.</a:t>
            </a:r>
          </a:p>
          <a:p>
            <a:pPr>
              <a:spcBef>
                <a:spcPts val="700"/>
              </a:spcBef>
              <a:defRPr sz="1050">
                <a:solidFill>
                  <a:srgbClr val="E2E8F0"/>
                </a:solidFill>
                <a:latin typeface="Arial"/>
              </a:defRPr>
            </a:pPr>
            <a:r>
              <a:t>• Ahorro directo en combustible de camiones (-35%).</a:t>
            </a:r>
          </a:p>
          <a:p>
            <a:pPr>
              <a:spcBef>
                <a:spcPts val="700"/>
              </a:spcBef>
              <a:defRPr sz="1050">
                <a:solidFill>
                  <a:srgbClr val="E2E8F0"/>
                </a:solidFill>
                <a:latin typeface="Arial"/>
              </a:defRPr>
            </a:pPr>
            <a:r>
              <a:t>• Cumplimiento auditable de metas ambientales.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828800"/>
            <a:ext cx="338328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200" b="1">
                <a:solidFill>
                  <a:srgbClr val="8B5CF6"/>
                </a:solidFill>
                <a:latin typeface="Arial"/>
              </a:defRPr>
            </a:pPr>
            <a:r>
              <a:t>B2B: EMPRESAS Y MARCAS (REP)</a:t>
            </a:r>
          </a:p>
          <a:p>
            <a:pPr>
              <a:spcBef>
                <a:spcPts val="3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Suscripción Mensual y Patrocinios</a:t>
            </a:r>
          </a:p>
          <a:p>
            <a:pPr>
              <a:spcBef>
                <a:spcPts val="700"/>
              </a:spcBef>
              <a:defRPr sz="1050">
                <a:solidFill>
                  <a:srgbClr val="E2E8F0"/>
                </a:solidFill>
                <a:latin typeface="Arial"/>
              </a:defRPr>
            </a:pPr>
            <a:r>
              <a:t>• Presencia destacada de puntos limpios corporativos.</a:t>
            </a:r>
          </a:p>
          <a:p>
            <a:pPr>
              <a:spcBef>
                <a:spcPts val="700"/>
              </a:spcBef>
              <a:defRPr sz="1050">
                <a:solidFill>
                  <a:srgbClr val="E2E8F0"/>
                </a:solidFill>
                <a:latin typeface="Arial"/>
              </a:defRPr>
            </a:pPr>
            <a:r>
              <a:t>• Publicación de cupones con medición de canjes.</a:t>
            </a:r>
          </a:p>
          <a:p>
            <a:pPr>
              <a:spcBef>
                <a:spcPts val="700"/>
              </a:spcBef>
              <a:defRPr sz="1050">
                <a:solidFill>
                  <a:srgbClr val="E2E8F0"/>
                </a:solidFill>
                <a:latin typeface="Arial"/>
              </a:defRPr>
            </a:pPr>
            <a:r>
              <a:t>• Certificados de huella hídrica y de carbono mitigada.</a:t>
            </a:r>
          </a:p>
          <a:p>
            <a:pPr>
              <a:spcBef>
                <a:spcPts val="700"/>
              </a:spcBef>
              <a:defRPr sz="1050">
                <a:solidFill>
                  <a:srgbClr val="E2E8F0"/>
                </a:solidFill>
                <a:latin typeface="Arial"/>
              </a:defRPr>
            </a:pPr>
            <a:r>
              <a:t>• Cumplimiento legal de Responsabilidad Extendida.</a:t>
            </a:r>
          </a:p>
          <a:p>
            <a:pPr>
              <a:spcBef>
                <a:spcPts val="700"/>
              </a:spcBef>
              <a:defRPr sz="1050">
                <a:solidFill>
                  <a:srgbClr val="E2E8F0"/>
                </a:solidFill>
                <a:latin typeface="Arial"/>
              </a:defRPr>
            </a:pPr>
            <a:r>
              <a:t>• Tarifas desde $120 a $380 USD/mes por empresa.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828800"/>
            <a:ext cx="338328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200" b="1">
                <a:solidFill>
                  <a:srgbClr val="10B981"/>
                </a:solidFill>
                <a:latin typeface="Arial"/>
              </a:defRPr>
            </a:pPr>
            <a:r>
              <a:t>B2C: CIUDADANO (ACCESO LIBRE)</a:t>
            </a:r>
          </a:p>
          <a:p>
            <a:pPr>
              <a:spcBef>
                <a:spcPts val="3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Impacto Social y Adopción Masiva</a:t>
            </a:r>
          </a:p>
          <a:p>
            <a:pPr>
              <a:spcBef>
                <a:spcPts val="700"/>
              </a:spcBef>
              <a:defRPr sz="1050">
                <a:solidFill>
                  <a:srgbClr val="E2E8F0"/>
                </a:solidFill>
                <a:latin typeface="Arial"/>
              </a:defRPr>
            </a:pPr>
            <a:r>
              <a:t>• Aplicación móvil 100% gratuita de por vida.</a:t>
            </a:r>
          </a:p>
          <a:p>
            <a:pPr>
              <a:spcBef>
                <a:spcPts val="700"/>
              </a:spcBef>
              <a:defRPr sz="1050">
                <a:solidFill>
                  <a:srgbClr val="E2E8F0"/>
                </a:solidFill>
                <a:latin typeface="Arial"/>
              </a:defRPr>
            </a:pPr>
            <a:r>
              <a:t>• Sin publicidad invasiva ni comercialización de datos.</a:t>
            </a:r>
          </a:p>
          <a:p>
            <a:pPr>
              <a:spcBef>
                <a:spcPts val="700"/>
              </a:spcBef>
              <a:defRPr sz="1050">
                <a:solidFill>
                  <a:srgbClr val="E2E8F0"/>
                </a:solidFill>
                <a:latin typeface="Arial"/>
              </a:defRPr>
            </a:pPr>
            <a:r>
              <a:t>• Incentivo económico real mediante cupones canjeables.</a:t>
            </a:r>
          </a:p>
          <a:p>
            <a:pPr>
              <a:spcBef>
                <a:spcPts val="700"/>
              </a:spcBef>
              <a:defRPr sz="1050">
                <a:solidFill>
                  <a:srgbClr val="E2E8F0"/>
                </a:solidFill>
                <a:latin typeface="Arial"/>
              </a:defRPr>
            </a:pPr>
            <a:r>
              <a:t>• Tasa de adopción estimada: 35-42% del padrón.</a:t>
            </a:r>
          </a:p>
          <a:p>
            <a:pPr>
              <a:spcBef>
                <a:spcPts val="700"/>
              </a:spcBef>
              <a:defRPr sz="1050">
                <a:solidFill>
                  <a:srgbClr val="E2E8F0"/>
                </a:solidFill>
                <a:latin typeface="Arial"/>
              </a:defRPr>
            </a:pPr>
            <a:r>
              <a:t>• Enfoque de democratización tecnológica comunitaria.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3474720" cy="347472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10. VALIDACIÓN Y RENDIMIENTO</a:t>
            </a:r>
          </a:p>
        </p:txBody>
      </p:sp>
      <p:pic>
        <p:nvPicPr>
          <p:cNvPr id="4" name="Picture 3" descr="civicloop_logo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365760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Métricas de Desempeño y Pruebas en Campo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  <a:latin typeface="Arial"/>
              </a:defRPr>
            </a:pPr>
            <a:r>
              <a:t>Resultados de la suite automatizada de pruebas y validación real en Villa del Rosario y Matorrales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468880" cy="30175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3600" b="1">
                <a:solidFill>
                  <a:srgbClr val="06B6D4"/>
                </a:solidFill>
                <a:latin typeface="Arial"/>
              </a:defRPr>
            </a:pPr>
            <a:r>
              <a:t>~520 ms</a:t>
            </a:r>
          </a:p>
          <a:p>
            <a:pPr>
              <a:spcBef>
                <a:spcPts val="400"/>
              </a:spcBef>
              <a:defRPr sz="1300" b="1">
                <a:solidFill>
                  <a:srgbClr val="FFFFFF"/>
                </a:solidFill>
                <a:latin typeface="Arial"/>
              </a:defRPr>
            </a:pPr>
            <a:r>
              <a:t>Inferencia Gemini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Tiempo de respuesta de la IA multimodal procesando fotografía Base64 y clasificando material en Supabase Edge Functions.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828800"/>
            <a:ext cx="2468880" cy="30175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3600" b="1">
                <a:solidFill>
                  <a:srgbClr val="10B981"/>
                </a:solidFill>
                <a:latin typeface="Arial"/>
              </a:defRPr>
            </a:pPr>
            <a:r>
              <a:t>~95 ms</a:t>
            </a:r>
          </a:p>
          <a:p>
            <a:pPr>
              <a:spcBef>
                <a:spcPts val="400"/>
              </a:spcBef>
              <a:defRPr sz="1300" b="1">
                <a:solidFill>
                  <a:srgbClr val="FFFFFF"/>
                </a:solidFill>
                <a:latin typeface="Arial"/>
              </a:defRPr>
            </a:pPr>
            <a:r>
              <a:t>Consulta PostGIS RPC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Cálculo de contenedor más cercano con filtrado espacial GiST y proyección esférica 4326.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2468880" cy="30175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3600" b="1">
                <a:solidFill>
                  <a:srgbClr val="F59E0B"/>
                </a:solidFill>
                <a:latin typeface="Arial"/>
              </a:defRPr>
            </a:pPr>
            <a:r>
              <a:t>21.8 MB</a:t>
            </a:r>
          </a:p>
          <a:p>
            <a:pPr>
              <a:spcBef>
                <a:spcPts val="400"/>
              </a:spcBef>
              <a:defRPr sz="1300" b="1">
                <a:solidFill>
                  <a:srgbClr val="FFFFFF"/>
                </a:solidFill>
                <a:latin typeface="Arial"/>
              </a:defRPr>
            </a:pPr>
            <a:r>
              <a:t>Tamaño de APK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Paquete optimizado con R8 / ProGuard, reducción de assets y librerías nativas compiladas.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828800"/>
            <a:ext cx="2468880" cy="30175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3600" b="1">
                <a:solidFill>
                  <a:srgbClr val="8B5CF6"/>
                </a:solidFill>
                <a:latin typeface="Arial"/>
              </a:defRPr>
            </a:pPr>
            <a:r>
              <a:t>100%</a:t>
            </a:r>
          </a:p>
          <a:p>
            <a:pPr>
              <a:spcBef>
                <a:spcPts val="400"/>
              </a:spcBef>
              <a:defRPr sz="1300" b="1">
                <a:solidFill>
                  <a:srgbClr val="FFFFFF"/>
                </a:solidFill>
                <a:latin typeface="Arial"/>
              </a:defRPr>
            </a:pPr>
            <a:r>
              <a:t>Tasa Éxito en Campo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Resolución correcta de los casos de prueba (botella PET, cartón, pilas y voluminosos) en Villa del Rosario y Matorrales.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074920"/>
            <a:ext cx="1069848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/>
          <a:lstStyle/>
          <a:p>
            <a:pPr algn="ctr">
              <a:defRPr sz="1100" b="1">
                <a:solidFill>
                  <a:srgbClr val="06B6D4"/>
                </a:solidFill>
                <a:latin typeface="Arial"/>
              </a:defRPr>
            </a:pPr>
            <a:r>
              <a:t>🛡️ COBERTURA DE PRUEBAS AUTOMATIZADAS: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Pruebas unitarias en ViewModel (StateFlow), tests de integración de API REST con Retrofit, validación de schemas JSON en Edge Functions y simulación de escenarios de conectividad intermitente garantizando tolerancia a fallos.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3474720" cy="34747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11. EVOLUCIÓN Y ROADMAP</a:t>
            </a:r>
          </a:p>
        </p:txBody>
      </p:sp>
      <p:pic>
        <p:nvPicPr>
          <p:cNvPr id="4" name="Picture 3" descr="civicloop_logo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365760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De Proyecto Integrador a Plataforma Regional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  <a:latin typeface="Arial"/>
              </a:defRPr>
            </a:pPr>
            <a:r>
              <a:t>Hitos operativos alcanzados en la V2.1 y plan de expansión estratégica para la Fase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300" b="1">
                <a:solidFill>
                  <a:srgbClr val="10B981"/>
                </a:solidFill>
                <a:latin typeface="Arial"/>
              </a:defRPr>
            </a:pPr>
            <a:r>
              <a:t>✅ VERSIÓN 2.1 — CONSOLIDADA Y OPERATIVA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Migración completa a IA Multimodal Google Gemini.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Reconocimiento de cámara con flujo de navegación Maps.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Módulo de solicitud de retiros domiciliarios de voluminosos.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Red real desplegada en Villa del Rosario y Matorrales.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Pines con badges tipográficos de residuos en el mapa.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Rediseño de icono transparente y splash screen Android 12+.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APK compilada e instalable (EcoMapa-v2.1-Demo.apk).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Carpeta de documentación de 31 páginas según pautas PIN 2026.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300" b="1">
                <a:solidFill>
                  <a:srgbClr val="F59E0B"/>
                </a:solidFill>
                <a:latin typeface="Arial"/>
              </a:defRPr>
            </a:pPr>
            <a:r>
              <a:t>🚀 FASE 3 — ESCALAMIENTO E IOT REGIONAL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Sensores ultrasónicos de llenado con LoRaWAN en contenedores.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Ruteo dinámico predictivo para camiones recolectores.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Celdas de carga y pesaje automático en tolva de descarga.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Expansión del despliegue a Luque, Calchín, Tránsito y Arroyito.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Integración con billeteras digitales locales para bonificación de tasas municipales.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Arial"/>
              </a:defRPr>
            </a:pPr>
            <a:r>
              <a:t>• Portal de datos abiertos (Open Data) para investigación universitaria.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ivicloop_logo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40080"/>
            <a:ext cx="1463040" cy="1463040"/>
          </a:xfrm>
          <a:prstGeom prst="rect">
            <a:avLst/>
          </a:prstGeom>
        </p:spPr>
      </p:pic>
      <p:pic>
        <p:nvPicPr>
          <p:cNvPr id="4" name="Picture 3" descr="ic_splash_logo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640080"/>
            <a:ext cx="1463040" cy="1463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228600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Arial"/>
              </a:defRPr>
            </a:pPr>
            <a:r>
              <a:t>Transformando el Cuidado Ambiental con Inteligencia y Cercanía</a:t>
            </a:r>
          </a:p>
          <a:p>
            <a:pPr algn="ctr">
              <a:spcBef>
                <a:spcPts val="800"/>
              </a:spcBef>
              <a:defRPr sz="2200" b="1">
                <a:solidFill>
                  <a:srgbClr val="34D399"/>
                </a:solidFill>
                <a:latin typeface="Arial"/>
              </a:defRPr>
            </a:pPr>
            <a:r>
              <a:t>¡Muchas Gracias por su Atención!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4114800"/>
            <a:ext cx="886968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182880"/>
          <a:lstStyle/>
          <a:p>
            <a:pPr algn="ctr">
              <a:defRPr sz="1400" b="1">
                <a:solidFill>
                  <a:srgbClr val="06B6D4"/>
                </a:solidFill>
                <a:latin typeface="Arial"/>
              </a:defRPr>
            </a:pPr>
            <a:r>
              <a:t>CIVICLOOP TECHNOLOGIES S.A.</a:t>
            </a:r>
          </a:p>
          <a:p>
            <a:pPr algn="ctr">
              <a:spcBef>
                <a:spcPts val="300"/>
              </a:spcBef>
              <a:defRPr sz="1200" b="1">
                <a:solidFill>
                  <a:srgbClr val="FFFFFF"/>
                </a:solidFill>
                <a:latin typeface="Arial"/>
              </a:defRPr>
            </a:pPr>
            <a:r>
              <a:t>Desarrolladores: Naomi Ailín Soria Jofré  —  Gerardo Jesús Romero</a:t>
            </a:r>
          </a:p>
          <a:p>
            <a:pPr algn="ctr">
              <a:spcBef>
                <a:spcPts val="3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Docente Responsable: Mgter. Lic. Enzo Varela (MP: 3215)  •  Instituto Superior Villa del Rosario (2026)</a:t>
            </a:r>
          </a:p>
          <a:p>
            <a:pPr algn="ctr">
              <a:spcBef>
                <a:spcPts val="600"/>
              </a:spcBef>
              <a:defRPr sz="1100" b="1">
                <a:solidFill>
                  <a:srgbClr val="34D399"/>
                </a:solidFill>
                <a:latin typeface="Arial"/>
              </a:defRPr>
            </a:pPr>
            <a:r>
              <a:t>📦 APK Instalable: EcoMapa-v2.1-Demo.apk (21.8 MB)  •  🌐 GitHub: github.com/RomeroGerardo/EcoMapaLandinPage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