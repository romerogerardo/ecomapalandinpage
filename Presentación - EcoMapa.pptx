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4114800" cy="34747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6B4D"/>
                </a:solidFill>
                <a:latin typeface="Arial"/>
              </a:defRPr>
            </a:pPr>
            <a:r>
              <a:t>PRESENTACIÓN DEL PROYECTO  •  CICLO 2026</a:t>
            </a:r>
          </a:p>
        </p:txBody>
      </p:sp>
      <p:pic>
        <p:nvPicPr>
          <p:cNvPr id="4" name="Picture 3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1463040" cy="1463040"/>
          </a:xfrm>
          <a:prstGeom prst="rect">
            <a:avLst/>
          </a:prstGeom>
        </p:spPr>
      </p:pic>
      <p:pic>
        <p:nvPicPr>
          <p:cNvPr id="5" name="Picture 4" descr="ic_splash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1887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834640"/>
            <a:ext cx="10789920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4400" b="1">
                <a:solidFill>
                  <a:srgbClr val="17352B"/>
                </a:solidFill>
                <a:latin typeface="Arial"/>
              </a:defRPr>
            </a:pPr>
            <a:r>
              <a:t>EcoMapa V2.1</a:t>
            </a:r>
          </a:p>
          <a:p>
            <a:pPr>
              <a:spcBef>
                <a:spcPts val="600"/>
              </a:spcBef>
              <a:defRPr sz="2000" b="1">
                <a:solidFill>
                  <a:srgbClr val="0B6B4D"/>
                </a:solidFill>
                <a:latin typeface="Arial"/>
              </a:defRPr>
            </a:pPr>
            <a:r>
              <a:t>Asistente Inteligente de Reciclaje con Geolocalización e Inteligencia Artificial</a:t>
            </a:r>
          </a:p>
          <a:p>
            <a:pPr>
              <a:spcBef>
                <a:spcPts val="800"/>
              </a:spcBef>
              <a:defRPr sz="1400">
                <a:solidFill>
                  <a:srgbClr val="5C6B65"/>
                </a:solidFill>
                <a:latin typeface="Arial"/>
              </a:defRPr>
            </a:pPr>
            <a:r>
              <a:t>App móvil  •  IA Multimodal  •  Mapa georreferenciado  •  Gamificación  •  Retiros a domicilio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83480"/>
            <a:ext cx="3429000" cy="13258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F2A65A"/>
                </a:solidFill>
                <a:latin typeface="Arial"/>
              </a:defRPr>
            </a:pPr>
            <a:r>
              <a:t>PRESENTADO POR</a:t>
            </a:r>
          </a:p>
          <a:p>
            <a:pPr>
              <a:spcBef>
                <a:spcPts val="300"/>
              </a:spcBef>
              <a:defRPr sz="1100" b="1">
                <a:solidFill>
                  <a:srgbClr val="17352B"/>
                </a:solidFill>
                <a:latin typeface="Arial"/>
              </a:defRPr>
            </a:pPr>
            <a:r>
              <a:t>Romero Gerardo</a:t>
            </a:r>
            <a:br/>
            <a:r>
              <a:t>y Soria Naomi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CivicLoop Technologies S.A.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983480"/>
            <a:ext cx="3429000" cy="13258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0B6B4D"/>
                </a:solidFill>
                <a:latin typeface="Arial"/>
              </a:defRPr>
            </a:pPr>
            <a:r>
              <a:t>EVALUACIÓN ACADÉMICA</a:t>
            </a:r>
          </a:p>
          <a:p>
            <a:pPr>
              <a:spcBef>
                <a:spcPts val="300"/>
              </a:spcBef>
              <a:defRPr sz="1100" b="1">
                <a:solidFill>
                  <a:srgbClr val="17352B"/>
                </a:solidFill>
                <a:latin typeface="Arial"/>
              </a:defRPr>
            </a:pPr>
            <a:r>
              <a:t>Mgter. Lic. Enzo Varela</a:t>
            </a:r>
            <a:br/>
            <a:r>
              <a:t>Analista de Sistemas (MP: 3215)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Instituto Superior Villa del Rosario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983480"/>
            <a:ext cx="3429000" cy="13258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5F8DD3"/>
                </a:solidFill>
                <a:latin typeface="Arial"/>
              </a:defRPr>
            </a:pPr>
            <a:r>
              <a:t>CARRERA Y SEDE</a:t>
            </a:r>
          </a:p>
          <a:p>
            <a:pPr>
              <a:spcBef>
                <a:spcPts val="300"/>
              </a:spcBef>
              <a:defRPr sz="1100" b="1">
                <a:solidFill>
                  <a:srgbClr val="17352B"/>
                </a:solidFill>
                <a:latin typeface="Arial"/>
              </a:defRPr>
            </a:pPr>
            <a:r>
              <a:t>Tecnicatura Superior en Desarrollo de Software</a:t>
            </a:r>
            <a:br/>
            <a:r>
              <a:t>Villa del Rosario, Córdoba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01 •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El problema que aborda EcoMapa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17352B"/>
                </a:solidFill>
                <a:latin typeface="Arial"/>
              </a:defRPr>
            </a:pPr>
            <a:r>
              <a:t>Separar residuos no siempre es difícil por falta de voluntad. Muchas veces faltan información clara, puntos visibles y coordinación.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96312"/>
            <a:ext cx="109728" cy="109728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53035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7352B"/>
                </a:solidFill>
                <a:latin typeface="Arial"/>
              </a:defRPr>
            </a:pPr>
            <a:r>
              <a:t>Clasificación confusa</a:t>
            </a:r>
          </a:p>
          <a:p>
            <a:pPr>
              <a:spcBef>
                <a:spcPts val="3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Pilas, medicamentos, electrónicos y voluminosos requieren un tratamiento distinto. Más del 50% de las personas desconoce el destino correcto y comete 'Wishcycling', contaminando los contenedores.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30752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53035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7352B"/>
                </a:solidFill>
                <a:latin typeface="Arial"/>
              </a:defRPr>
            </a:pPr>
            <a:r>
              <a:t>Puntos difíciles de encontrar</a:t>
            </a:r>
          </a:p>
          <a:p>
            <a:pPr>
              <a:spcBef>
                <a:spcPts val="3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La persona necesita saber dónde llevar cada material y qué opción queda más cerca. Solo el 9% del plástico se recicla globalmente y en nuestra región apenas se alcanza el 4%.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65192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53035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7352B"/>
                </a:solidFill>
                <a:latin typeface="Arial"/>
              </a:defRPr>
            </a:pPr>
            <a:r>
              <a:t>Gestión fragmentada</a:t>
            </a:r>
          </a:p>
          <a:p>
            <a:pPr>
              <a:spcBef>
                <a:spcPts val="3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Municipios, cooperativas y empresas necesitan datos concretos para coordinar acciones, optimizar recorridos de recolección y medir resultados ambientales.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423160"/>
            <a:ext cx="4709160" cy="356616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400" b="1">
                <a:solidFill>
                  <a:srgbClr val="0B6B4D"/>
                </a:solidFill>
                <a:latin typeface="Arial"/>
              </a:defRPr>
            </a:pPr>
            <a:r>
              <a:t>Oportunidad</a:t>
            </a:r>
          </a:p>
          <a:p>
            <a:pPr>
              <a:spcBef>
                <a:spcPts val="800"/>
              </a:spcBef>
              <a:defRPr sz="1800" b="1">
                <a:solidFill>
                  <a:srgbClr val="17352B"/>
                </a:solidFill>
                <a:latin typeface="Arial"/>
              </a:defRPr>
            </a:pPr>
            <a:r>
              <a:t>Convertir una duda cotidiana en una acción concreta, geolocalizada y trazable.</a:t>
            </a:r>
          </a:p>
          <a:p>
            <a:pPr>
              <a:spcBef>
                <a:spcPts val="1400"/>
              </a:spcBef>
              <a:defRPr sz="1200">
                <a:solidFill>
                  <a:srgbClr val="17352B"/>
                </a:solidFill>
                <a:latin typeface="Arial"/>
              </a:defRPr>
            </a:pPr>
            <a:r>
              <a:t>EcoMapa elimina la fricción entre la duda del ciudadano y el punto de recepción, facilitando el descarte correcto en segundos.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02 • AUDIENCIA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Usuario 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EcoMapa está orientado a diferentes sectores de la comunidad que buscan mejorar la gestión ambiental mediante tecnología e innovación: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Ciudadanos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Personas que buscan reciclar fácilmente desde su smartphone, resolver dudas sobre materiales al instante y encontrar el punto más cercano con beneficios tangibles.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2316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Municipios y Comunas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Gobiernos locales que necesitan optimizar la red pública de puntos limpios, coordinar retiros de voluminosos y acceder a métricas de impacto.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Escuelas e Instituciones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Comunidades educativas que promueven programas de separación en origen, talleres ecológicos y torneos ambientales gamificados.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Organizaciones y Empresas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Centros de reciclaje, comercios locales que publican cupones de descuento y fabricantes adheridos a programas de Responsabilidad Extendida (REP).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59436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🎯 Objetivo: Facilitar el reciclaje y promover la educación ambiental de manera interactiva y accesible.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03 •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Nuestra 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EcoMapa es una plataforma inteligente que combina inteligencia artificial, geolocalización y un modelo SaaS B2B para facilitar el reciclaje de manera simple, rápida e interactiva.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6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Con Asistente IA multimodal para clasificar residuos mediante texto o cámara al instante.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51760"/>
            <a:ext cx="109728" cy="109728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App móvil gratuita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6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Geolocalización de puntos ecológicos cercanos en tiempo real con navegación guiada por GPS.</a:t>
            </a:r>
          </a:p>
        </p:txBody>
      </p:sp>
      <p:sp>
        <p:nvSpPr>
          <p:cNvPr id="14" name="Oval 13"/>
          <p:cNvSpPr/>
          <p:nvPr/>
        </p:nvSpPr>
        <p:spPr>
          <a:xfrm>
            <a:off x="3611880" y="2651760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Mapa interactivo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6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Paneles administrativos para que municipios y empresas gestionen contenedores, retiros y métricas.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651760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Plataforma web SaaS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6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Sistema de gamificación con recompensas tangibles para fidelizar y premiar la participación ciudadana.</a:t>
            </a:r>
          </a:p>
        </p:txBody>
      </p:sp>
      <p:sp>
        <p:nvSpPr>
          <p:cNvPr id="20" name="Oval 19"/>
          <p:cNvSpPr/>
          <p:nvPr/>
        </p:nvSpPr>
        <p:spPr>
          <a:xfrm>
            <a:off x="9098280" y="2651760"/>
            <a:ext cx="109728" cy="109728"/>
          </a:xfrm>
          <a:prstGeom prst="ellipse">
            <a:avLst/>
          </a:prstGeom>
          <a:solidFill>
            <a:srgbClr val="5F8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Ecopuntos e insignias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532120"/>
            <a:ext cx="10817352" cy="77724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50" b="1">
                <a:solidFill>
                  <a:srgbClr val="0B6B4D"/>
                </a:solidFill>
                <a:latin typeface="Arial"/>
              </a:defRPr>
            </a:pPr>
            <a:r>
              <a:t>“Tecnología aplicada al cuidado ambiental.”</a:t>
            </a:r>
          </a:p>
          <a:p>
            <a:pPr>
              <a:spcBef>
                <a:spcPts val="2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Una herramienta que reduce la fricción en el momento del descarte y conecta al ciudadano con el punto correcto.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04 • FLUJO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El recorrido del ciudadano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17352B"/>
                </a:solidFill>
                <a:latin typeface="Arial"/>
              </a:defRPr>
            </a:pPr>
            <a:r>
              <a:t>EcoMapa une tres momentos de la decisión de reciclar: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3429000" cy="31089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800" b="1">
                <a:solidFill>
                  <a:srgbClr val="F2A65A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00" b="1">
                <a:solidFill>
                  <a:srgbClr val="17352B"/>
                </a:solidFill>
                <a:latin typeface="Arial"/>
              </a:defRPr>
            </a:pPr>
            <a:r>
              <a:t>Consulta Natural</a:t>
            </a:r>
          </a:p>
          <a:p>
            <a:pPr>
              <a:spcBef>
                <a:spcPts val="800"/>
              </a:spcBef>
              <a:defRPr sz="1150">
                <a:solidFill>
                  <a:srgbClr val="5C6B65"/>
                </a:solidFill>
                <a:latin typeface="Arial"/>
              </a:defRPr>
            </a:pPr>
            <a:r>
              <a:t>El ciudadano describe su residuo en el chat o toma una foto con la cámara (Ej: 'Tengo una pila usada' o '¿Cómo reciclo este envase?').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429000" cy="31089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800" b="1">
                <a:solidFill>
                  <a:srgbClr val="0B6B4D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 b="1">
                <a:solidFill>
                  <a:srgbClr val="17352B"/>
                </a:solidFill>
                <a:latin typeface="Arial"/>
              </a:defRPr>
            </a:pPr>
            <a:r>
              <a:t>Clasificación Inteligente</a:t>
            </a:r>
          </a:p>
          <a:p>
            <a:pPr>
              <a:spcBef>
                <a:spcPts val="800"/>
              </a:spcBef>
              <a:defRPr sz="1150">
                <a:solidFill>
                  <a:srgbClr val="5C6B65"/>
                </a:solidFill>
                <a:latin typeface="Arial"/>
              </a:defRPr>
            </a:pPr>
            <a:r>
              <a:t>La Inteligencia Artificial (Google Gemini) procesa la consulta al instante, identifica el material y orienta sobre cómo prepararlo (vaciar, secar, quitar tapa).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377440"/>
            <a:ext cx="3429000" cy="31089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800" b="1">
                <a:solidFill>
                  <a:srgbClr val="0B6B4D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 b="1">
                <a:solidFill>
                  <a:srgbClr val="17352B"/>
                </a:solidFill>
                <a:latin typeface="Arial"/>
              </a:defRPr>
            </a:pPr>
            <a:r>
              <a:t>Acción y Recompensa</a:t>
            </a:r>
          </a:p>
          <a:p>
            <a:pPr>
              <a:spcBef>
                <a:spcPts val="800"/>
              </a:spcBef>
              <a:defRPr sz="1150">
                <a:solidFill>
                  <a:srgbClr val="5C6B65"/>
                </a:solidFill>
                <a:latin typeface="Arial"/>
              </a:defRPr>
            </a:pPr>
            <a:r>
              <a:t>El mapa geolocaliza el punto adecuado con navegación GPS paso a paso en Google Maps, y el usuario suma Ecopuntos por su acción ambiental.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15000"/>
            <a:ext cx="10817352" cy="59436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Resultado: una decisión clara, un destino concreto y una acción que deja registro.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05 •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Demo del Producto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La plataforma permite al usuario interactuar fácilmente con herramientas ecológicas inteligentes desde una interfaz moderna y accesible: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Chat y Visión IA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Clasificación inteligente de residuos mediante lenguaje natural y análisis fotográfico en tiempo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2316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0B6B4D"/>
                </a:solidFill>
                <a:latin typeface="Arial"/>
              </a:defRPr>
            </a:pPr>
            <a:r>
              <a:t>•  Mapa interactivo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Ubicación de puntos ecológicos cercanos en tiempo real con badges de categoría y navegación en Google 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F2A65A"/>
                </a:solidFill>
                <a:latin typeface="Arial"/>
              </a:defRPr>
            </a:pPr>
            <a:r>
              <a:t>•  Gamificación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Sistema de recompensas, insignias y catálogo de cupones para incentivar y sostener el reciclaje continuo.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5257800" cy="150876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50" b="1">
                <a:solidFill>
                  <a:srgbClr val="5F8DD3"/>
                </a:solidFill>
                <a:latin typeface="Arial"/>
              </a:defRPr>
            </a:pPr>
            <a:r>
              <a:t>•  Panel administrativo</a:t>
            </a:r>
          </a:p>
          <a:p>
            <a:pPr>
              <a:spcBef>
                <a:spcPts val="4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Gestión centralizada de puntos limpios, coordinación de retiros domiciliarios y analítica para municipios.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59436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📱 Experiencia nativa Android (Jetpack Compose) diseñada para operar de forma ágil y con bajo consumo de batería.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06 •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Qué ofrece la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Las seis herramientas clave integradas en el ecosistema EcoMapa: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4048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500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1. Asistente IA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Clasifica residuos a partir de una consulta escrita o foto y entrega una recomendación comprensible.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402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4048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MAPA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500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2. Mapa interactivo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Muestra puntos verdes y centros de recepción con ubicación, categoría y guiado turn-by-turn.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7764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LOGRO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216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3. Ecopuntos e insignias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Premia la participación y conserva el progreso del usuario directamente en el dispositivo.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118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37764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RETIRO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7216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4. Retiros a domicilio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Permite solicitar la recolección de muebles, escombros, chatarra y restos de poda con turnos.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834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1480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GESTIÓN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932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5. Panel administrativo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Municipios y empresas gestionan puntos limpios, retiros, recompensas y métricas territoriales.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983480"/>
            <a:ext cx="5257800" cy="123444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5148072"/>
            <a:ext cx="777240" cy="256032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B6B4D"/>
                </a:solidFill>
                <a:latin typeface="Arial"/>
              </a:defRPr>
            </a:pPr>
            <a:r>
              <a:t>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093208"/>
            <a:ext cx="402336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7352B"/>
                </a:solidFill>
                <a:latin typeface="Arial"/>
              </a:defRPr>
            </a:pPr>
            <a:r>
              <a:t>6. Módulo REP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Da visibilidad a marcas y programas oficiales de recuperación de residuos especiales (pilas, RAEEs).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07 •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Mercado y Oportunidades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El crecimiento de las ciudades inteligentes y la necesidad de soluciones sustentables generan una gran oportunidad para integrar tecnología y cuidado ambiental: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La sociedad demanda herramientas prácticas para reducir su impacto ambiental y separar residuos de forma correcta.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51760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50" b="1">
                <a:solidFill>
                  <a:srgbClr val="17352B"/>
                </a:solidFill>
                <a:latin typeface="Arial"/>
              </a:defRPr>
            </a:pPr>
            <a:r>
              <a:t>Mayor conciencia ecológica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Los smartphones se han convertido en la principal vía de acceso a servicios públicos y comunitarios en el hogar.</a:t>
            </a:r>
          </a:p>
        </p:txBody>
      </p:sp>
      <p:sp>
        <p:nvSpPr>
          <p:cNvPr id="14" name="Oval 13"/>
          <p:cNvSpPr/>
          <p:nvPr/>
        </p:nvSpPr>
        <p:spPr>
          <a:xfrm>
            <a:off x="3611880" y="2651760"/>
            <a:ext cx="109728" cy="109728"/>
          </a:xfrm>
          <a:prstGeom prst="ellipse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50" b="1">
                <a:solidFill>
                  <a:srgbClr val="17352B"/>
                </a:solidFill>
                <a:latin typeface="Arial"/>
              </a:defRPr>
            </a:pPr>
            <a:r>
              <a:t>Uso masivo de tecnología móvil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Modelos multimodales accesibles permiten clasificar materiales y orientar consultas complejas en tiempo real.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651760"/>
            <a:ext cx="109728" cy="109728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50" b="1">
                <a:solidFill>
                  <a:srgbClr val="17352B"/>
                </a:solidFill>
                <a:latin typeface="Arial"/>
              </a:defRPr>
            </a:pPr>
            <a:r>
              <a:t>Expansión de soluciones con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/>
          </a:p>
          <a:p>
            <a:pPr>
              <a:spcBef>
                <a:spcPts val="3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Municipios y comunas buscan modernizar su gestión GIRSU, reducir basurales y cumplir metas ambientales.</a:t>
            </a:r>
          </a:p>
        </p:txBody>
      </p:sp>
      <p:sp>
        <p:nvSpPr>
          <p:cNvPr id="20" name="Oval 19"/>
          <p:cNvSpPr/>
          <p:nvPr/>
        </p:nvSpPr>
        <p:spPr>
          <a:xfrm>
            <a:off x="9098280" y="2651760"/>
            <a:ext cx="109728" cy="109728"/>
          </a:xfrm>
          <a:prstGeom prst="ellipse">
            <a:avLst/>
          </a:prstGeom>
          <a:solidFill>
            <a:srgbClr val="5F8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542032"/>
            <a:ext cx="2103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50" b="1">
                <a:solidFill>
                  <a:srgbClr val="17352B"/>
                </a:solidFill>
                <a:latin typeface="Arial"/>
              </a:defRPr>
            </a:pPr>
            <a:r>
              <a:t>Sostenibilidad urbana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532120"/>
            <a:ext cx="10817352" cy="77724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50" b="1">
                <a:solidFill>
                  <a:srgbClr val="0B6B4D"/>
                </a:solidFill>
                <a:latin typeface="Arial"/>
              </a:defRPr>
            </a:pPr>
            <a:r>
              <a:t>“La tecnología puede transformar hábitos ambientales.”</a:t>
            </a:r>
          </a:p>
          <a:p>
            <a:pPr>
              <a:spcBef>
                <a:spcPts val="2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Facilitando la transición hacia ciudades limpias, circulares y con participación ciudadana medible.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08 • MODELO DE NEGOCIOS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Modelo de Negocios — B2B y B2G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Esquema de sostenibilidad económica basado en suscripciones para el sector público y privado: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B2G: MUNICIPIOS</a:t>
            </a:r>
          </a:p>
          <a:p>
            <a:pPr>
              <a:spcBef>
                <a:spcPts val="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Suscripciones a gobiernos locales para gestionar sus puntos limpios, coordinar cuadrillas de retiros de voluminosos y acceder a métricas GIRSU de impacto.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B2B: EMPRESAS Y FARMACIAS</a:t>
            </a:r>
          </a:p>
          <a:p>
            <a:pPr>
              <a:spcBef>
                <a:spcPts val="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Suscripciones a empresas y comercios para figurar como Eco-Puntos oficiales en el mapa, publicar cupones de descuento y cumplir normativas de reciclaje.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APP MÓVIL 100% GRATUITA</a:t>
            </a:r>
          </a:p>
          <a:p>
            <a:pPr>
              <a:spcBef>
                <a:spcPts val="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Acceso libre y sin costo para los usuarios finales y vecinos, asegurando la máxima adopción ciudadana y democratización del servicio.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423160"/>
            <a:ext cx="2606040" cy="29260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TIERS DE SERVICIO SAAS</a:t>
            </a:r>
          </a:p>
          <a:p>
            <a:pPr>
              <a:spcBef>
                <a:spcPts val="800"/>
              </a:spcBef>
              <a:defRPr sz="1050">
                <a:solidFill>
                  <a:srgbClr val="5C6B65"/>
                </a:solidFill>
                <a:latin typeface="Arial"/>
              </a:defRPr>
            </a:pPr>
            <a:r>
              <a:t>Planes escalables (Basic • Pro • Enterprise) adaptados a la cantidad de habitantes, puntos verdes administrados y funcionalidades avanzadas.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532120"/>
            <a:ext cx="10817352" cy="77724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50" b="1">
                <a:solidFill>
                  <a:srgbClr val="0B6B4D"/>
                </a:solidFill>
                <a:latin typeface="Arial"/>
              </a:defRPr>
            </a:pPr>
            <a:r>
              <a:t>“EcoMapa genera impacto ambiental y valor comercial al mismo tiempo.”</a:t>
            </a:r>
          </a:p>
          <a:p>
            <a:pPr>
              <a:spcBef>
                <a:spcPts val="2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Un modelo autosustentable con costos operativos reducidos gracias a su infraestructura serverless en la nube.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09 • DIFERENCIACIÓN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Competencia y Diferenciación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EcoMapa integra múltiples herramientas en una sola plataforma inteligente enfocada en reciclaje y sostenibilidad: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Inteligencia Artificial integrada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Clasificación instantánea sin necesidad de consultar tablas o manuales impresos.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2316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Geolocalización en tiempo real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Identificación precisa del punto más cercano con navegación guiada turn-by-turn.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Sistema de gamificación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Recompensas tangibles y cupones de comercios locales para mantener la motivación.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8328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Panel administrativo municipal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Herramientas de gestión y coordinación de cuadrillas para retiros voluminosos.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Educación ecológica interactiva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Recomendaciones comprensibles de acondicionamiento del residuo en el momento exacto.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343400"/>
            <a:ext cx="5257800" cy="86868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200" b="1">
                <a:solidFill>
                  <a:srgbClr val="0B6B4D"/>
                </a:solidFill>
                <a:latin typeface="Arial"/>
              </a:defRPr>
            </a:pPr>
            <a:r>
              <a:t>•  Arquitectura Multi-Tenant</a:t>
            </a:r>
          </a:p>
          <a:p>
            <a:pPr>
              <a:spcBef>
                <a:spcPts val="200"/>
              </a:spcBef>
              <a:defRPr sz="1000">
                <a:solidFill>
                  <a:srgbClr val="5C6B65"/>
                </a:solidFill>
                <a:latin typeface="Arial"/>
              </a:defRPr>
            </a:pPr>
            <a:r>
              <a:t>Escalable para múltiples comunas y municipios bajo un mismo entorno centralizado.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32120"/>
            <a:ext cx="10817352" cy="77724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50" b="1">
                <a:solidFill>
                  <a:srgbClr val="0B6B4D"/>
                </a:solidFill>
                <a:latin typeface="Arial"/>
              </a:defRPr>
            </a:pPr>
            <a:r>
              <a:t>“Nuestra propuesta combina innovación tecnológica con impacto ambiental directo.”</a:t>
            </a:r>
          </a:p>
          <a:p>
            <a:pPr>
              <a:spcBef>
                <a:spcPts val="2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Superando los límites de los mapas estáticos convencionales mediante asistencia activa y trazabilidad.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10 • 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Tecnologías Utilizadas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La arquitectura fue diseñada para ofrecer rapidez, escalabilidad y una experiencia moderna: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0817352" cy="658368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App Móvil: </a:t>
            </a:r>
            <a:r>
              <a:rPr sz="1150" b="1">
                <a:solidFill>
                  <a:srgbClr val="17352B"/>
                </a:solidFill>
                <a:latin typeface="Arial"/>
              </a:rPr>
              <a:t>Kotlin • Jetpack Compose • Room • Retrofit • CameraX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Desarrollo nativo Android con arquitectura Clean y persistencia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10817352" cy="658368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Plataforma Web: </a:t>
            </a:r>
            <a:r>
              <a:rPr sz="1150" b="1">
                <a:solidFill>
                  <a:srgbClr val="17352B"/>
                </a:solidFill>
                <a:latin typeface="Arial"/>
              </a:rPr>
              <a:t>React 19 • TypeScript • Vite • Tailwind CSS • Shadcn UI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Paneles administrativos rápidos, accesibles y con diseño responsive.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10817352" cy="658368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Backend y Base de Datos: </a:t>
            </a:r>
            <a:r>
              <a:rPr sz="1150" b="1">
                <a:solidFill>
                  <a:srgbClr val="17352B"/>
                </a:solidFill>
                <a:latin typeface="Arial"/>
              </a:rPr>
              <a:t>Supabase • PostgreSQL 15 • PostGIS • Row Level Security (RLS)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Gestión de datos espaciales, autenticación y seguridad a nivel de fila.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10817352" cy="658368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Inteligencia Artificial: </a:t>
            </a:r>
            <a:r>
              <a:rPr sz="1150" b="1">
                <a:solidFill>
                  <a:srgbClr val="17352B"/>
                </a:solidFill>
                <a:latin typeface="Arial"/>
              </a:rPr>
              <a:t>Google Gemini 1.5 Flash (Visión y Lenguaje Natural)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Inferencia multimodal rápida para clasificación de fotos y consultas de chat.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49240"/>
            <a:ext cx="10817352" cy="658368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50" b="1">
                <a:solidFill>
                  <a:srgbClr val="0B6B4D"/>
                </a:solidFill>
                <a:latin typeface="Arial"/>
              </a:defRPr>
            </a:pPr>
            <a:r>
              <a:t>Herramientas adicionales: </a:t>
            </a:r>
            <a:r>
              <a:rPr sz="1150" b="1">
                <a:solidFill>
                  <a:srgbClr val="17352B"/>
                </a:solidFill>
                <a:latin typeface="Arial"/>
              </a:rPr>
              <a:t>React-Leaflet • Google Maps Turn-by-Turn • Edge Functions en Deno</a:t>
            </a:r>
          </a:p>
          <a:p>
            <a:pPr>
              <a:spcBef>
                <a:spcPts val="200"/>
              </a:spcBef>
              <a:defRPr sz="950">
                <a:solidFill>
                  <a:srgbClr val="5C6B65"/>
                </a:solidFill>
                <a:latin typeface="Arial"/>
              </a:defRPr>
            </a:pPr>
            <a:r>
              <a:t>Mapas interactivos, ruteo asistido por voz y funciones serverless livianas.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217920"/>
            <a:ext cx="10817352" cy="320040"/>
          </a:xfrm>
          <a:prstGeom prst="roundRect">
            <a:avLst/>
          </a:prstGeom>
          <a:solidFill>
            <a:srgbClr val="D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000" b="1">
                <a:solidFill>
                  <a:srgbClr val="0B6B4D"/>
                </a:solidFill>
                <a:latin typeface="Arial"/>
              </a:defRPr>
            </a:pPr>
            <a:r>
              <a:t>⚡ Stack 100% moderno garantizando alta disponibilidad y bajo consumo de recursos en la nube.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029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B6B4D"/>
                </a:solidFill>
                <a:latin typeface="Arial"/>
              </a:defRPr>
            </a:pPr>
            <a:r>
              <a:t>11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31520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5C6B65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17352B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817352" cy="13716"/>
          </a:xfrm>
          <a:prstGeom prst="rect">
            <a:avLst/>
          </a:prstGeom>
          <a:solidFill>
            <a:srgbClr val="CF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none" lIns="0" bIns="0">
            <a:spAutoFit/>
          </a:bodyPr>
          <a:lstStyle/>
          <a:p>
            <a:pPr>
              <a:defRPr sz="950">
                <a:solidFill>
                  <a:srgbClr val="5C6B65"/>
                </a:solidFill>
                <a:latin typeface="Arial"/>
              </a:defRPr>
            </a:pPr>
            <a:r>
              <a:t>EcoMapa  •  CivicLoop Technologies S.A.</a:t>
            </a:r>
          </a:p>
        </p:txBody>
      </p:sp>
      <p:pic>
        <p:nvPicPr>
          <p:cNvPr id="8" name="Picture 7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30936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645920"/>
            <a:ext cx="107899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17352B"/>
                </a:solidFill>
                <a:latin typeface="Arial"/>
              </a:defRPr>
            </a:pPr>
            <a:r>
              <a:t>“EcoMapa continúa evolucionando.” El proyecto fue desarrollado como una solución funcional con proyección de expansión futura: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5257800" cy="3931920"/>
          </a:xfrm>
          <a:prstGeom prst="roundRect">
            <a:avLst/>
          </a:prstGeom>
          <a:solidFill>
            <a:srgbClr val="F8FAF8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0B6B4D"/>
                </a:solidFill>
                <a:latin typeface="Arial"/>
              </a:defRPr>
            </a:pPr>
            <a:r>
              <a:t>Consolidado en la Versión 2.1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Reconocimiento de residuos mediante imágenes con Google Gemini.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Navegación GPS Turn-by-Turn directa en Google Maps.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Sistema de solicitud de retiros domiciliarios de residuos voluminosos.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Puntos limpios reales activos en Matorrales y Villa del Rosario.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Badges tipográficos de materiales sobre los marcadores del mapa.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APK compilada e instalable para dispositivos Android (21.8 MB).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5285232" cy="3931920"/>
          </a:xfrm>
          <a:prstGeom prst="roundRect">
            <a:avLst/>
          </a:prstGeom>
          <a:solidFill>
            <a:srgbClr val="EAF5EE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0B6B4D"/>
                </a:solidFill>
                <a:latin typeface="Arial"/>
              </a:defRPr>
            </a:pPr>
            <a:r>
              <a:t>Ideas futuras y expansión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Estadísticas e insights avanzados de generación de residuos por zona.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Ranking ecológico comunitario y torneos intercolegiales.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Sensores IoT ultrasónicos de nivel de llenado en contenedores urbanos.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APIs personalizadas para reportes de sustentabilidad corporativa ESG.</a:t>
            </a:r>
          </a:p>
          <a:p>
            <a:pPr>
              <a:spcBef>
                <a:spcPts val="800"/>
              </a:spcBef>
              <a:defRPr sz="1100">
                <a:solidFill>
                  <a:srgbClr val="17352B"/>
                </a:solidFill>
                <a:latin typeface="Arial"/>
              </a:defRPr>
            </a:pPr>
            <a:r>
              <a:t>• Nuevos sistemas de canje de recompensas y bonificación de tasas municipales.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ivicloop_log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640080"/>
            <a:ext cx="1371600" cy="1371600"/>
          </a:xfrm>
          <a:prstGeom prst="rect">
            <a:avLst/>
          </a:prstGeom>
        </p:spPr>
      </p:pic>
      <p:pic>
        <p:nvPicPr>
          <p:cNvPr id="4" name="Picture 3" descr="ic_splash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9456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¡MUCHAS GRACIAS!</a:t>
            </a:r>
          </a:p>
          <a:p>
            <a:pPr algn="ctr">
              <a:spcBef>
                <a:spcPts val="800"/>
              </a:spcBef>
              <a:defRPr sz="1800">
                <a:solidFill>
                  <a:srgbClr val="DDF4E9"/>
                </a:solidFill>
                <a:latin typeface="Arial"/>
              </a:defRPr>
            </a:pPr>
            <a:r>
              <a:t>“La tecnología puede hacer que reciclar bien sea una decisión más fácil.”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206240"/>
            <a:ext cx="8897112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/>
          <a:lstStyle/>
          <a:p>
            <a:pPr algn="ctr">
              <a:defRPr sz="1400" b="1">
                <a:solidFill>
                  <a:srgbClr val="0B6B4D"/>
                </a:solidFill>
                <a:latin typeface="Arial"/>
              </a:defRPr>
            </a:pPr>
            <a:r>
              <a:t>CIVICLOOP TECHNOLOGIES S.A.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17352B"/>
                </a:solidFill>
                <a:latin typeface="Arial"/>
              </a:defRPr>
            </a:pPr>
            <a:r>
              <a:t>Romero Gerardo  y  Soria Naomi</a:t>
            </a:r>
          </a:p>
          <a:p>
            <a:pPr algn="ctr">
              <a:spcBef>
                <a:spcPts val="300"/>
              </a:spcBef>
              <a:defRPr sz="1100">
                <a:solidFill>
                  <a:srgbClr val="5C6B65"/>
                </a:solidFill>
                <a:latin typeface="Arial"/>
              </a:defRPr>
            </a:pPr>
            <a:r>
              <a:t>Docente Responsable: Mgter. Lic. Enzo Varela (MP: 3215)  •  Instituto Superior Villa del Rosario (2026)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0B6B4D"/>
                </a:solidFill>
                <a:latin typeface="Arial"/>
              </a:defRPr>
            </a:pPr>
            <a:r>
              <a:t>Triple Impacto: Social  •  Ambiental  •  Tecnológico  |  github.com/RomeroGerardo/EcoMapaLandinPage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