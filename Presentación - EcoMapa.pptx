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585216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  <a:latin typeface="Arial"/>
              </a:defRPr>
            </a:pPr>
            <a:r>
              <a:t>CIVICLOOP TECHNOLOGIES S.A.  •  PROYECTO INTEGRADOR (PIN 2026)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645920" cy="1645920"/>
          </a:xfrm>
          <a:prstGeom prst="rect">
            <a:avLst/>
          </a:prstGeom>
        </p:spPr>
      </p:pic>
      <p:pic>
        <p:nvPicPr>
          <p:cNvPr id="5" name="Picture 4" descr="ic_splash_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1887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971800"/>
            <a:ext cx="106984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Arial"/>
              </a:defRPr>
            </a:pPr>
            <a:r>
              <a:t>ECOMAPA V2.1</a:t>
            </a:r>
          </a:p>
          <a:p>
            <a:pPr>
              <a:spcBef>
                <a:spcPts val="800"/>
              </a:spcBef>
              <a:defRPr sz="1800" b="1">
                <a:solidFill>
                  <a:srgbClr val="34D399"/>
                </a:solidFill>
                <a:latin typeface="Arial"/>
              </a:defRPr>
            </a:pPr>
            <a:r>
              <a:t>Asistente Inteligente de Reciclaje con Geolocalización e Inteligencia Artificial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Tecnología aplicada al cuidado ambiental, economía circular y gestión urbana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92040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950" b="1">
                <a:solidFill>
                  <a:srgbClr val="10B981"/>
                </a:solidFill>
                <a:latin typeface="Arial"/>
              </a:defRPr>
            </a:pPr>
            <a:r>
              <a:t>PRESENTADO POR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Romero Gerardo</a:t>
            </a:r>
            <a:br/>
            <a:r>
              <a:t>y Soria Naomi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CivicLoop Technologies S.A.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892040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950" b="1">
                <a:solidFill>
                  <a:srgbClr val="06B6D4"/>
                </a:solidFill>
                <a:latin typeface="Arial"/>
              </a:defRPr>
            </a:pPr>
            <a:r>
              <a:t>EVALUACIÓN ACADÉMICA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Mgter. Lic. Enzo Varela</a:t>
            </a:r>
            <a:br/>
            <a:r>
              <a:t>Analista de Sistemas (MP: 3215)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Instituto Superior Villa del Rosario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892040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950" b="1">
                <a:solidFill>
                  <a:srgbClr val="8B5CF6"/>
                </a:solidFill>
                <a:latin typeface="Arial"/>
              </a:defRPr>
            </a:pPr>
            <a:r>
              <a:t>CICLO LECTIVO Y SEDE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Práctica Profesionalizante I y II</a:t>
            </a:r>
            <a:br/>
            <a:r>
              <a:t>Villa del Rosario, Córdoba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01. EL PROBLEMA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La Barrera Ciudadana en la Separación en Origen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Por qué los programas tradicionales de reciclaje encuentran dificultades para escalar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2064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300" b="1">
                <a:solidFill>
                  <a:srgbClr val="F43F5E"/>
                </a:solidFill>
                <a:latin typeface="Arial"/>
              </a:defRPr>
            </a:pPr>
            <a:r>
              <a:t>DESCONOCIMIENTO Y WISHCYCLING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Más del 50% de las personas admite no saber cómo clasificar correctamente sus residuos.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Esto produce el fenómeno denominado 'Wishcycling' (reciclaje ilusorio): desechar residuos creyendo erróneamente que son reciclables.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Como consecuencia, se contaminan los lotes limpios en los puntos verdes, haciendo inviable su posterior tratamiento y venta.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1208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¿SABÍAS QUE?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9% — Solo el 9% del plástico generado se recicla exitosamente a nivel mundial.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&lt; 4% — En nuestra región y en el interior de Córdoba, la tasa efectiva de reciclaje apenas alcanza el 4%.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100% — El 100% de esta problemática puede mitigarse con información precisa, asistencia inmediata y geolocalización accesible.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60"/>
            <a:ext cx="106984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34D399"/>
                </a:solidFill>
                <a:latin typeface="Arial"/>
              </a:defRPr>
            </a:pPr>
            <a:r>
              <a:t>🌱 LA OPORTUNIDAD QUE ABORDA ECOMAPA: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  <a:latin typeface="Arial"/>
              </a:defRPr>
            </a:pPr>
            <a:r>
              <a:t>Separar no es difícil por falta de voluntad, sino por la falta de información clara y puntos visibles. EcoMapa convierte una duda cotidiana en una acción concreta, geolocalizada y medible.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02. AUDIENCIA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Usuario Objetivo y Sectores Beneficiados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EcoMapa está orientado a diferentes actores de la comunidad para mejorar la gestión ambiental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011680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CIUDADANOS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Vecinos que buscan reciclar fácilmente desde su teléfono móvil, clasificar dudas y encontrar puntos verdes cercanos con recompensas tangibles.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783080"/>
            <a:ext cx="2011680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/>
          <a:lstStyle/>
          <a:p>
            <a:pPr algn="ctr">
              <a:defRPr sz="1200" b="1">
                <a:solidFill>
                  <a:srgbClr val="06B6D4"/>
                </a:solidFill>
                <a:latin typeface="Arial"/>
              </a:defRPr>
            </a:pPr>
            <a:r>
              <a:t>MUNICIPIOS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Gobiernos locales y comunas que necesitan optimizar la red de puntos limpios, monitorear la recolección y acceder a métricas de impacto ambiental.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783080"/>
            <a:ext cx="2011680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/>
          <a:lstStyle/>
          <a:p>
            <a:pPr algn="ctr">
              <a:defRPr sz="1200" b="1">
                <a:solidFill>
                  <a:srgbClr val="F59E0B"/>
                </a:solidFill>
                <a:latin typeface="Arial"/>
              </a:defRPr>
            </a:pPr>
            <a:r>
              <a:t>ESCUELAS E INSTITUCIONES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Colegios e instituciones educativas que promueven talleres de educación ecológica interactiva mediante tecnología gamificada.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199" y="1783080"/>
            <a:ext cx="2011680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/>
          <a:lstStyle/>
          <a:p>
            <a:pPr algn="ctr">
              <a:defRPr sz="1200" b="1">
                <a:solidFill>
                  <a:srgbClr val="8B5CF6"/>
                </a:solidFill>
                <a:latin typeface="Arial"/>
              </a:defRPr>
            </a:pPr>
            <a:r>
              <a:t>ORGANIZACIONES ECOLÓGICAS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ONGs y cooperativas de recicladores urbanos que buscan visibilizar sus centros de acopio y coordinar retiros de materiales.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783080"/>
            <a:ext cx="2011680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/>
          <a:lstStyle/>
          <a:p>
            <a:pPr algn="ctr">
              <a:defRPr sz="1200" b="1">
                <a:solidFill>
                  <a:srgbClr val="F43F5E"/>
                </a:solidFill>
                <a:latin typeface="Arial"/>
              </a:defRPr>
            </a:pPr>
            <a:r>
              <a:t>EMPRESAS Y COMERCIOS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Negocios locales que patrocinan beneficios y fabricantes que cumplen la normativa de Responsabilidad Extendida del Productor (REP).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4924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/>
          <a:lstStyle/>
          <a:p>
            <a:pPr algn="ctr">
              <a:defRPr sz="1100" b="1">
                <a:solidFill>
                  <a:srgbClr val="06B6D4"/>
                </a:solidFill>
                <a:latin typeface="Arial"/>
              </a:defRPr>
            </a:pPr>
            <a:r>
              <a:t>🎯 PROPÓSITO CENTRAL: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Facilitar el reciclaje, erradicar la desinformación y promover la educación ambiental ciudadana de manera interactiva, colaborativa y transparente.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03. PROPUESTA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Nuestra Solución Integral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Una plataforma inteligente que combina Inteligencia Artificial, geolocalización y un modelo SaaS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50" b="1">
                <a:solidFill>
                  <a:srgbClr val="10B981"/>
                </a:solidFill>
                <a:latin typeface="Arial"/>
              </a:defRPr>
            </a:pPr>
            <a:r>
              <a:t>APP MÓVIL GRATUITA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Con Asistente IA multimodal para clasificar residuos mediante texto o cámara en tiempo real.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50" b="1">
                <a:solidFill>
                  <a:srgbClr val="06B6D4"/>
                </a:solidFill>
                <a:latin typeface="Arial"/>
              </a:defRPr>
            </a:pPr>
            <a:r>
              <a:t>MAPA INTERACTIVO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Geolocalización de puntos ecológicos, contenedores oficiales y centros de recepción cercanos con guiado GPS.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50" b="1">
                <a:solidFill>
                  <a:srgbClr val="F59E0B"/>
                </a:solidFill>
                <a:latin typeface="Arial"/>
              </a:defRPr>
            </a:pPr>
            <a:r>
              <a:t>PLATAFORMA WEB SAAS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Paneles administrativos para que municipios y empresas gestionen contenedores, retiros y analítica GIRSU.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50" b="1">
                <a:solidFill>
                  <a:srgbClr val="8B5CF6"/>
                </a:solidFill>
                <a:latin typeface="Arial"/>
              </a:defRPr>
            </a:pPr>
            <a:r>
              <a:t>SISTEMA DE ECOPUNTOS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Gamificación con insignias y cupones de descuento para motivar y fidelizar la conducta sustentable de los usuarios.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6984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82880"/>
          <a:lstStyle/>
          <a:p>
            <a:pPr algn="ctr">
              <a:defRPr sz="1400" b="1">
                <a:solidFill>
                  <a:srgbClr val="34D399"/>
                </a:solidFill>
                <a:latin typeface="Arial"/>
              </a:defRPr>
            </a:pPr>
            <a:r>
              <a:t>“Tecnología aplicada al cuidado ambiental.”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EcoMapa no solo le dice al vecino si un residuo se recicla, sino cómo prepararlo y exactamente a qué contenedor llevarlo, acompañándolo paso a paso.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04. FLUJO PRINCIPAL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El Recorrido del Ciudadano: De la Pregunta a la Acción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Cómo interactúa el vecino en su vida diaria frente a un residuo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91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3600" b="1">
                <a:solidFill>
                  <a:srgbClr val="10B981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CONSULTA NATURAL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El ciudadano describe su residuo en el chat o toma una fotografía con la cámara de su teléfono (Ej: 'Tengo una pila usada' o '¿Dónde tiro una botella de lavandina?').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383280" cy="3291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3600" b="1">
                <a:solidFill>
                  <a:srgbClr val="06B6D4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CLASIFICACIÓN INTELIGENTE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La Inteligencia Artificial de Google Gemini procesa la consulta al instante, identifica el material, verifica su reciclabilidad y enseña cómo acondicionarlo.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383280" cy="3291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3600" b="1">
                <a:solidFill>
                  <a:srgbClr val="F59E0B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ACCIÓN Y RECOMPENSA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El mapa geolocaliza el punto adecuado más cercano con navegación GPS en Google Maps. El usuario realiza la acción y suma Ecopuntos para canjear por beneficios.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5780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06B6D4"/>
                </a:solidFill>
                <a:latin typeface="Arial"/>
              </a:defRPr>
            </a:pPr>
            <a:r>
              <a:t>🎯 RESULTADO COMPROBADO: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Una decisión clara, un destino concreto y una acción sustentable que deja registro y trazabilidad tanto para el ciudadano como para el municipio.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05. EXPERIENCIA VISUAL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Demo del Producto e Interfaces Principales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Herramientas ecológicas inteligentes integradas en una experiencia moderna y accesible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48640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50" b="1">
                <a:solidFill>
                  <a:srgbClr val="10B981"/>
                </a:solidFill>
                <a:latin typeface="Arial"/>
              </a:defRPr>
            </a:pPr>
            <a:r>
              <a:t>CHAT Y CÁMARA IA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Clasificación inteligente de residuos mediante lenguaje natural y escaneo visual por cámara.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48640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50" b="1">
                <a:solidFill>
                  <a:srgbClr val="06B6D4"/>
                </a:solidFill>
                <a:latin typeface="Arial"/>
              </a:defRPr>
            </a:pPr>
            <a:r>
              <a:t>MAPA INTERACTIVO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Ubicación de puntos ecológicos cercanos en tiempo real con badges y navegación en Google Maps.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48640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50" b="1">
                <a:solidFill>
                  <a:srgbClr val="F59E0B"/>
                </a:solidFill>
                <a:latin typeface="Arial"/>
              </a:defRPr>
            </a:pPr>
            <a:r>
              <a:t>SISTEMA DE GAMIFICACIÓN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Recompensas e insignias para incentivar el reciclaje continuo y canje de cupones locales.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548640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50" b="1">
                <a:solidFill>
                  <a:srgbClr val="8B5CF6"/>
                </a:solidFill>
                <a:latin typeface="Arial"/>
              </a:defRPr>
            </a:pPr>
            <a:r>
              <a:t>PANEL ADMINISTRATIVO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Gestión centralizada de puntos limpios, coordinación de retiros y analítica para municipios.</a:t>
            </a:r>
          </a:p>
        </p:txBody>
      </p:sp>
      <p:pic>
        <p:nvPicPr>
          <p:cNvPr id="10" name="Picture 9" descr="app_scan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783080"/>
            <a:ext cx="2194560" cy="4480560"/>
          </a:xfrm>
          <a:prstGeom prst="rect">
            <a:avLst/>
          </a:prstGeom>
        </p:spPr>
      </p:pic>
      <p:pic>
        <p:nvPicPr>
          <p:cNvPr id="11" name="Picture 10" descr="app_map_sc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1783080"/>
            <a:ext cx="2468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06. CAPACIDADES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Funcionalidades Principales de la Plataforma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Las seis herramientas clave que articulan el ecosistema EcoMapa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1. ASISTENTE IA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Clasifica residuos a partir de una consulta escrita o fotográfica y entrega una recomendación clara y comprensible.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06B6D4"/>
                </a:solidFill>
                <a:latin typeface="Arial"/>
              </a:defRPr>
            </a:pPr>
            <a:r>
              <a:t>2. MAPA INTERACTIVO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Muestra puntos verdes y centros de recepción con geolocalización, categoría de residuo y navegación guiada.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39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F59E0B"/>
                </a:solidFill>
                <a:latin typeface="Arial"/>
              </a:defRPr>
            </a:pPr>
            <a:r>
              <a:t>3. ECOPUNTOS E INSIGNIAS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Premia la participación ambiental y conserva el progreso del usuario directamente en el dispositivo móvil.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91839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8B5CF6"/>
                </a:solidFill>
                <a:latin typeface="Arial"/>
              </a:defRPr>
            </a:pPr>
            <a:r>
              <a:t>4. RETIROS A DOMICILIO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Permite solicitar la recolección de muebles, escombros, chatarra y restos de poda con selección de turnos.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3B82F6"/>
                </a:solidFill>
                <a:latin typeface="Arial"/>
              </a:defRPr>
            </a:pPr>
            <a:r>
              <a:t>5. PANEL ADMINISTRATIVO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Municipios y empresas gestionan puntos, solicitudes de retiro, catálogo de recompensas y métricas.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800600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F43F5E"/>
                </a:solidFill>
                <a:latin typeface="Arial"/>
              </a:defRPr>
            </a:pPr>
            <a:r>
              <a:t>6. MÓDULO REP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Da visibilidad a marcas y programas oficiales de recuperación de residuos especiales (pilas, baterías, RAEEs).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07. OPORTUNIDAD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Mercado y Oportunidades de Crecimiento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El contexto favorable para la integración de tecnología y cuidado ambiental urbano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CONCIENCIA ECOLÓGICA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Creciente interés de la ciudadanía en adoptar hábitos sustentables y reducir el impacto de sus residuos cotidianos.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00" b="1">
                <a:solidFill>
                  <a:srgbClr val="06B6D4"/>
                </a:solidFill>
                <a:latin typeface="Arial"/>
              </a:defRPr>
            </a:pPr>
            <a:r>
              <a:t>USO MASIVO DE SMARTPHONES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Penetración superior al 85% de dispositivos móviles en la población, permitiendo llegada directa al hogar.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00" b="1">
                <a:solidFill>
                  <a:srgbClr val="F59E0B"/>
                </a:solidFill>
                <a:latin typeface="Arial"/>
              </a:defRPr>
            </a:pPr>
            <a:r>
              <a:t>AUGE DE SOLUCIONES CON IA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Madurez de modelos multimodales como Google Gemini capaces de resolver consultas complejas al instante.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00" b="1">
                <a:solidFill>
                  <a:srgbClr val="8B5CF6"/>
                </a:solidFill>
                <a:latin typeface="Arial"/>
              </a:defRPr>
            </a:pPr>
            <a:r>
              <a:t>SOSTENIBILIDAD Y CIUDADES INTELIGENTES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Municipios con presupuestos activos para modernización GIRSU y cumplimiento de metas ambientales.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6984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34D399"/>
                </a:solidFill>
                <a:latin typeface="Arial"/>
              </a:defRPr>
            </a:pPr>
            <a:r>
              <a:t>“La tecnología puede transformar hábitos ambientales.”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El crecimiento de las ciudades inteligentes y la necesidad urgente de soluciones sustentables generan una ventana estratégica inmejorable para EcoMapa en los municipios de la provincia.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08. MODELO DE NEGOCIOS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Modelo de Negocios: B2B y B2G SaaS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Generando triple impacto ambiental, social y comercial al mismo tiempo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00" b="1">
                <a:solidFill>
                  <a:srgbClr val="06B6D4"/>
                </a:solidFill>
                <a:latin typeface="Arial"/>
              </a:defRPr>
            </a:pPr>
            <a:r>
              <a:t>B2G: MUNICIPIOS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Suscripciones mensuales a gobiernos locales para administrar sus puntos limpios, monitorear cuadrillas y certificar estadísticas GIRSU.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00" b="1">
                <a:solidFill>
                  <a:srgbClr val="8B5CF6"/>
                </a:solidFill>
                <a:latin typeface="Arial"/>
              </a:defRPr>
            </a:pPr>
            <a:r>
              <a:t>B2B: EMPRESAS Y FARMACIAS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Suscripciones a comercios privados para figurar como Eco-Puntos oficiales y publicar cupones de descuento patrocinados.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APP MÓVIL 100% GRATUITA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Acceso totalmente libre para el vecino, sin muros de pago ni publicidad molesta, fomentando la máxima adopción ciudadana.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783080"/>
            <a:ext cx="25603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01168"/>
          <a:lstStyle/>
          <a:p>
            <a:pPr algn="ctr">
              <a:defRPr sz="1200" b="1">
                <a:solidFill>
                  <a:srgbClr val="F59E0B"/>
                </a:solidFill>
                <a:latin typeface="Arial"/>
              </a:defRPr>
            </a:pPr>
            <a:r>
              <a:t>TIERS DE SERVICIO SAAS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Planes escalables (Basic • Pro • Enterprise) adaptados a la cantidad de habitantes y volumen de puntos limpios.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6984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06B6D4"/>
                </a:solidFill>
                <a:latin typeface="Arial"/>
              </a:defRPr>
            </a:pPr>
            <a:r>
              <a:t>“EcoMapa genera impacto ambiental y valor comercial al mismo tiempo.”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Un modelo autosustentable donde los municipios ahorran costos de logística y las empresas posicionan su marca verde mientras la comunidad recicla mejor.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09. DIFERENCIACIÓN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Competencia y Ventaja Competitiva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Por qué EcoMapa supera a las iniciativas tradicionales de mapas estáticos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IA MULTIMODAL INTEGRADA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No requiere buscar en largos listados PDF: basta una foto o pregunta en lenguaje natural con Google Gemini.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06B6D4"/>
                </a:solidFill>
                <a:latin typeface="Arial"/>
              </a:defRPr>
            </a:pPr>
            <a:r>
              <a:t>GEOLOCALIZACIÓN Y GPS NATIVO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Cálculo euclidiano PostGIS y botón de navegación turn-by-turn en Google Maps con guiado por voz.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39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F59E0B"/>
                </a:solidFill>
                <a:latin typeface="Arial"/>
              </a:defRPr>
            </a:pPr>
            <a:r>
              <a:t>SISTEMA DE GAMIFICACIÓN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Incentivos tangibles en comercios locales que sostienen el compromiso del usuario en el tiempo.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91839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8B5CF6"/>
                </a:solidFill>
                <a:latin typeface="Arial"/>
              </a:defRPr>
            </a:pPr>
            <a:r>
              <a:t>PANEL ADMINISTRATIVO MUNICIPAL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Herramientas de gestión y coordinación de cuadrillas para retiros voluminosos en tiempo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3B82F6"/>
                </a:solidFill>
                <a:latin typeface="Arial"/>
              </a:defRPr>
            </a:pPr>
            <a:r>
              <a:t>EDUCACIÓN AMBIENTAL INTERACTIVA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Consejos de acondicionamiento de materiales en el momento exacto del descarte.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800600"/>
            <a:ext cx="52578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defRPr sz="1200" b="1">
                <a:solidFill>
                  <a:srgbClr val="F43F5E"/>
                </a:solidFill>
                <a:latin typeface="Arial"/>
              </a:defRPr>
            </a:pPr>
            <a:r>
              <a:t>ARQUITECTURA MULTI-TENANT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Aislamiento de datos para servir a múltiples comunas y ciudades sobre una única plataforma.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10. STACK TECNOLÓGICO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Tecnologías Utilizadas en el Desarrollo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Una arquitectura moderna diseñada para ofrecer rapidez, escalabilidad y robustez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150" b="1">
                <a:solidFill>
                  <a:srgbClr val="10B981"/>
                </a:solidFill>
                <a:latin typeface="Arial"/>
              </a:defRPr>
            </a:pPr>
            <a:r>
              <a:t>APP MÓVIL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Kotlin • Jetpack Compose • Room • Retrofit • CameraX</a:t>
            </a:r>
            <a:br/>
            <a:r>
              <a:t>Diseño reactivo moderno, arquitectura MVVM y soporte offline de datos.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069848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150" b="1">
                <a:solidFill>
                  <a:srgbClr val="06B6D4"/>
                </a:solidFill>
                <a:latin typeface="Arial"/>
              </a:defRPr>
            </a:pPr>
            <a:r>
              <a:t>PLATAFORMA WEB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React 19 • TypeScript • Vite • Tailwind CSS • Leaflet</a:t>
            </a:r>
            <a:br/>
            <a:r>
              <a:t>Paneles ultra-rápidos, mapas interactivos y control de accesos por roles.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150" b="1">
                <a:solidFill>
                  <a:srgbClr val="F59E0B"/>
                </a:solidFill>
                <a:latin typeface="Arial"/>
              </a:defRPr>
            </a:pPr>
            <a:r>
              <a:t>BACKEND Y BASE DE DATOS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Supabase Platform • PostgreSQL 15 • PostGIS • RLS</a:t>
            </a:r>
            <a:br/>
            <a:r>
              <a:t>Seguridad a nivel de fila, funciones espaciales y almacenamiento en la nube.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150" b="1">
                <a:solidFill>
                  <a:srgbClr val="8B5CF6"/>
                </a:solidFill>
                <a:latin typeface="Arial"/>
              </a:defRPr>
            </a:pPr>
            <a:r>
              <a:t>INTELIGENCIA ARTIFICIAL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Google Gemini 1.5 Flash (Visión y Lenguaje Natural)</a:t>
            </a:r>
            <a:br/>
            <a:r>
              <a:t>Inferencia multimodal en tiempo real vía Edge Functions en Deno.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40680"/>
            <a:ext cx="1069848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150" b="1">
                <a:solidFill>
                  <a:srgbClr val="3B82F6"/>
                </a:solidFill>
                <a:latin typeface="Arial"/>
              </a:defRPr>
            </a:pPr>
            <a:r>
              <a:t>HERRAMIENTAS ADICIONALES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Google Maps Intent • Deno Runtime • GitHub Actions • Vercel</a:t>
            </a:r>
            <a:br/>
            <a:r>
              <a:t>Integración continua, ruteo por GPS y despliegue automatizado.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11. EVOLUCIÓN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47472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498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Roadmap: “EcoMapa Continúa Evolucionando”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El proyecto fue desarrollado como una solución consolidada con proyección futura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✅ CONSOLIDADO EN LA VERSIÓN 2.1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Reconocimiento de residuos por imágenes con Google Gemini.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Navegación GPS Turn-by-Turn directa a Google Maps.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Módulo de solicitud de retiros domiciliarios de voluminosos.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Puntos de reciclaje reales activos en Matorrales y Villa del Rosario.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Badges tipográficos dinámicos de residuos sobre el mapa.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APK compilada e instalable para smartphones Android.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🚀 PRÓXIMOS PASOS Y EXPANSIÓN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Estadísticas avanzadas e insights de generación de residuos por zona.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Sensores IoT ultrasónicos de llenado con LoRaWAN en contenedores.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Ranking ecológico comunitario y torneos intercolegiales.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APIs personalizadas para reportes de sustentabilidad corporativa ESG.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Nuevos sistemas de canje de recompensas y billeteras digitales locales.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40080"/>
            <a:ext cx="1463040" cy="1463040"/>
          </a:xfrm>
          <a:prstGeom prst="rect">
            <a:avLst/>
          </a:prstGeom>
        </p:spPr>
      </p:pic>
      <p:pic>
        <p:nvPicPr>
          <p:cNvPr id="4" name="Picture 3" descr="ic_splash_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64008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286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¡MUCHAS GRACIAS!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34D399"/>
                </a:solidFill>
                <a:latin typeface="Arial"/>
              </a:defRPr>
            </a:pPr>
            <a:r>
              <a:t>Triple Impacto: Social • Ambiental • Tecnológico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886968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82880"/>
          <a:lstStyle/>
          <a:p>
            <a:pPr algn="ctr">
              <a:defRPr sz="1400" b="1">
                <a:solidFill>
                  <a:srgbClr val="06B6D4"/>
                </a:solidFill>
                <a:latin typeface="Arial"/>
              </a:defRPr>
            </a:pPr>
            <a:r>
              <a:t>CIVICLOOP TECHNOLOGIES S.A.</a:t>
            </a:r>
          </a:p>
          <a:p>
            <a:pPr algn="ctr">
              <a:spcBef>
                <a:spcPts val="3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Romero Gerardo  y  Soria Naomi</a:t>
            </a:r>
          </a:p>
          <a:p>
            <a:pPr algn="ctr"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Docente Responsable: Mgter. Lic. Enzo Varela (MP: 3215)  •  Instituto Superior Villa del Rosario (2026)</a:t>
            </a:r>
          </a:p>
          <a:p>
            <a:pPr algn="ctr">
              <a:spcBef>
                <a:spcPts val="600"/>
              </a:spcBef>
              <a:defRPr sz="1100" b="1">
                <a:solidFill>
                  <a:srgbClr val="34D399"/>
                </a:solidFill>
                <a:latin typeface="Arial"/>
              </a:defRPr>
            </a:pPr>
            <a:r>
              <a:t>🌐 Repositorio GitHub: github.com/RomeroGerardo/EcoMapaLandinPage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